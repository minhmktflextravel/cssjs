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slides/slide12.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B490554-E2A8-4A5D-BE3F-85FE4857DC8A}"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3" name="PlaceHolder 1"/>
          <p:cNvSpPr>
            <a:spLocks noGrp="1"/>
          </p:cNvSpPr>
          <p:nvPr>
            <p:ph type="sldImg"/>
          </p:nvPr>
        </p:nvSpPr>
        <p:spPr>
          <a:xfrm>
            <a:off x="1143000" y="685800"/>
            <a:ext cx="4571640" cy="3428640"/>
          </a:xfrm>
          <a:prstGeom prst="rect">
            <a:avLst/>
          </a:prstGeom>
          <a:ln w="0">
            <a:noFill/>
          </a:ln>
        </p:spPr>
      </p:sp>
      <p:sp>
        <p:nvSpPr>
          <p:cNvPr id="64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24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Kính chào thầy cô và các bạn. Nhóm chúng em trình bày chủ đề giai cấp, dân tộc và nhân loại theo tài liệu đã được cung cấp. Đây là những khái niệm quen thuộc nhưng dễ bị dùng lẫn lộn. Chẳng hạn, một người vừa thuộc một cộng đồng dân tộc, vừa có một vị trí trong đời sống sản xuất, đồng thời là thành viên của nhân loại. Bài trình bày sẽ lần lượt làm rõ từng phạm trù, sau đó xem xét mối quan hệ giữa chúng trong hệ thống lý luận Mác – Lênin. Các ví dụ do nhóm bổ sung sẽ được ghi rõ, để phân biệt với nội dung của tài liệu.</a:t>
            </a:r>
            <a:endParaRPr lang="en-US" sz="2000" b="0" u="none" strike="noStrike">
              <a:solidFill>
                <a:srgbClr val="000000"/>
              </a:solidFill>
              <a:effectLst/>
              <a:uFillTx/>
              <a:latin typeface="Arial"/>
            </a:endParaRPr>
          </a:p>
        </p:txBody>
      </p:sp>
      <p:sp>
        <p:nvSpPr>
          <p:cNvPr id="645"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235DB39-ADB4-4FA3-A3C8-8BE69FD5642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sldImg"/>
          </p:nvPr>
        </p:nvSpPr>
        <p:spPr>
          <a:xfrm>
            <a:off x="1143000" y="685800"/>
            <a:ext cx="4571640" cy="3428640"/>
          </a:xfrm>
          <a:prstGeom prst="rect">
            <a:avLst/>
          </a:prstGeom>
          <a:ln w="0">
            <a:noFill/>
          </a:ln>
        </p:spPr>
      </p:sp>
      <p:sp>
        <p:nvSpPr>
          <p:cNvPr id="64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19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Bài trình bày được chia cho hai thành viên. Em phụ trách phần đầu, từ khái niệm giai cấp đến sự hình thành dân tộc và đặc điểm Việt Nam. Bạn thứ hai tiếp tục với đấu tranh giai cấp của giai cấp vô sản, rồi phân tích quan hệ giai cấp, dân tộc và nhân loại. Cách chia này giữ nguyên mạch xuất hiện các phần trong tài liệu, kể cả việc nội dung về đấu tranh của giai cấp vô sản nằm sau phần dân tộc. Nhóm dự kiến trình bày khoảng mười tám phút. Hai nhãn người trình bày trên slide là vị trí để điền họ tên thực tế của thành viên.</a:t>
            </a:r>
            <a:endParaRPr lang="en-US" sz="2000" b="0" u="none" strike="noStrike">
              <a:solidFill>
                <a:srgbClr val="000000"/>
              </a:solidFill>
              <a:effectLst/>
              <a:uFillTx/>
              <a:latin typeface="Arial"/>
            </a:endParaRPr>
          </a:p>
        </p:txBody>
      </p:sp>
      <p:sp>
        <p:nvSpPr>
          <p:cNvPr id="648"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17EBF7E-63E0-4EA9-8785-D059ACACA61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sldImg"/>
          </p:nvPr>
        </p:nvSpPr>
        <p:spPr>
          <a:xfrm>
            <a:off x="1143000" y="685800"/>
            <a:ext cx="4571640" cy="3428640"/>
          </a:xfrm>
          <a:prstGeom prst="rect">
            <a:avLst/>
          </a:prstGeom>
          <a:ln w="0">
            <a:noFill/>
          </a:ln>
        </p:spPr>
      </p:sp>
      <p:sp>
        <p:nvSpPr>
          <p:cNvPr id="65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24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Sau bài này, chúng ta hướng tới ba việc. Thứ nhất là phân biệt được giai cấp với dân tộc và nhân loại, đồng thời nhận ra rằng từ dân tộc có thể được dùng với hai nghĩa. Thứ hai là giải thích các quá trình được tài liệu đề cập, từ nguồn gốc giai cấp đến sự phát triển của cộng đồng người và các hình thức đấu tranh. Thứ ba là vận dụng kiến thức vào một tình huống cụ thể. Khi học, chúng ta nên chú ý đến quan hệ giữa các yếu tố thay vì chỉ ghi nhớ tên gọi. Một biểu hiện như thu nhập khác nhau chưa đủ để thay thế toàn bộ những tiêu chí xác định giai cấp.</a:t>
            </a:r>
            <a:endParaRPr lang="en-US" sz="2000" b="0" u="none" strike="noStrike">
              <a:solidFill>
                <a:srgbClr val="000000"/>
              </a:solidFill>
              <a:effectLst/>
              <a:uFillTx/>
              <a:latin typeface="Arial"/>
            </a:endParaRPr>
          </a:p>
        </p:txBody>
      </p:sp>
      <p:sp>
        <p:nvSpPr>
          <p:cNvPr id="651"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3B648FE-5DF5-4643-9F8B-E476B921F95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type="sldImg"/>
          </p:nvPr>
        </p:nvSpPr>
        <p:spPr>
          <a:xfrm>
            <a:off x="1143000" y="685800"/>
            <a:ext cx="4571640" cy="3428640"/>
          </a:xfrm>
          <a:prstGeom prst="rect">
            <a:avLst/>
          </a:prstGeom>
          <a:ln w="0">
            <a:noFill/>
          </a:ln>
        </p:spPr>
      </p:sp>
      <p:sp>
        <p:nvSpPr>
          <p:cNvPr id="65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29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Sơ đồ này là bản đồ để theo dõi toàn bộ bài. Nhánh đầu đặt nền móng bằng giai cấp và đấu tranh giai cấp. Nhánh thứ hai chuyển sang cộng đồng người và dân tộc. Nhánh thứ ba trở lại một chủ thể cụ thể là giai cấp vô sản, qua các giai đoạn đấu tranh khác nhau. Nhánh cuối kết nối những phạm trù đã học với nhân loại. Bốn nhánh không hoàn toàn tách biệt: điều kiện sản xuất, cách tổ chức xã hội và lợi ích là các yếu tố xuyên suốt. Khi chuyển phần, chúng em sẽ quay lại trục kết nối này để giải thích vì sao một nội dung dẫn đến nội dung tiếp theo.</a:t>
            </a:r>
            <a:endParaRPr lang="en-US" sz="2000" b="0" u="none" strike="noStrike">
              <a:solidFill>
                <a:srgbClr val="000000"/>
              </a:solidFill>
              <a:effectLst/>
              <a:uFillTx/>
              <a:latin typeface="Arial"/>
            </a:endParaRPr>
          </a:p>
        </p:txBody>
      </p:sp>
      <p:sp>
        <p:nvSpPr>
          <p:cNvPr id="654"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FAC2C11-8A61-4B3B-8C53-046BDA1407C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type="sldImg"/>
          </p:nvPr>
        </p:nvSpPr>
        <p:spPr>
          <a:xfrm>
            <a:off x="1143000" y="685800"/>
            <a:ext cx="4571640" cy="3428640"/>
          </a:xfrm>
          <a:prstGeom prst="rect">
            <a:avLst/>
          </a:prstGeom>
          <a:ln w="0">
            <a:noFill/>
          </a:ln>
        </p:spPr>
      </p:sp>
      <p:sp>
        <p:nvSpPr>
          <p:cNvPr id="65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53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Theo tài liệu, giai cấp là những tập đoàn người to lớn có địa vị khác nhau trong một hệ thống sản xuất xã hội nhất định. Bốn phương diện trên slide cần được xem cùng nhau. Quan hệ đối với tư liệu sản xuất giúp làm rõ ai nắm giữ điều kiện sản xuất. Vai trò tổ chức lao động cho thấy ai quản lý, ai trực tiếp thực hiện và cách các vị trí liên hệ với nhau. Từ những quan hệ đó, cách thức và quy mô nhận phần của cải cũng khác nhau. Vì vậy, khi phân tích giai cấp, chúng ta không nên chỉ nhìn mức lương hay lối sống bên ngoài. Điểm xuất phát là vị trí và quan hệ của con người trong sản xuất.</a:t>
            </a:r>
            <a:endParaRPr lang="en-US" sz="2000" b="0" u="none" strike="noStrike">
              <a:solidFill>
                <a:srgbClr val="000000"/>
              </a:solidFill>
              <a:effectLst/>
              <a:uFillTx/>
              <a:latin typeface="Arial"/>
            </a:endParaRPr>
          </a:p>
        </p:txBody>
      </p:sp>
      <p:sp>
        <p:nvSpPr>
          <p:cNvPr id="657"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90CC793-F348-45A0-8453-D61A535AC86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sldImg"/>
          </p:nvPr>
        </p:nvSpPr>
        <p:spPr>
          <a:xfrm>
            <a:off x="1143000" y="685800"/>
            <a:ext cx="4571640" cy="3428640"/>
          </a:xfrm>
          <a:prstGeom prst="rect">
            <a:avLst/>
          </a:prstGeom>
          <a:ln w="0">
            <a:noFill/>
          </a:ln>
        </p:spPr>
      </p:sp>
      <p:sp>
        <p:nvSpPr>
          <p:cNvPr id="65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48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Tài liệu phân biệt hai cấp độ nguyên nhân. Nguyên nhân sâu xa là sự phát triển của lực lượng sản xuất, làm năng suất lao động tăng và xuất hiện của cải dư thừa. Nhưng có của cải dư thừa chưa phải là toàn bộ lời giải thích. Nguyên nhân trực tiếp được nêu là chế độ tư hữu về tư liệu sản xuất. Khi một bộ phận nắm giữ các điều kiện sản xuất làm của riêng, còn bộ phận khác không có, sự phân hóa có cơ sở để hình thành và phát triển. Mũi tên trên slide thể hiện mạch lý giải khái quát của tài liệu, không phải một lịch trình đồng loạt giống nhau cho mọi xã hội. Từ nguồn gốc, chúng ta chuyển sang cấu trúc của xã hội có giai cấp.</a:t>
            </a:r>
            <a:endParaRPr lang="en-US" sz="2000" b="0" u="none" strike="noStrike">
              <a:solidFill>
                <a:srgbClr val="000000"/>
              </a:solidFill>
              <a:effectLst/>
              <a:uFillTx/>
              <a:latin typeface="Arial"/>
            </a:endParaRPr>
          </a:p>
        </p:txBody>
      </p:sp>
      <p:sp>
        <p:nvSpPr>
          <p:cNvPr id="660"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1950D36-A6E7-4C91-8A5C-06A871D1AEE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sldImg"/>
          </p:nvPr>
        </p:nvSpPr>
        <p:spPr>
          <a:xfrm>
            <a:off x="1143000" y="685800"/>
            <a:ext cx="4571640" cy="3428640"/>
          </a:xfrm>
          <a:prstGeom prst="rect">
            <a:avLst/>
          </a:prstGeom>
          <a:ln w="0">
            <a:noFill/>
          </a:ln>
        </p:spPr>
      </p:sp>
      <p:sp>
        <p:nvSpPr>
          <p:cNvPr id="66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43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Kết cấu xã hội – giai cấp là tổng thể các giai cấp cùng những mối quan hệ giữa chúng trong một giai đoạn lịch sử nhất định. Tài liệu chia cấu trúc thành ba nhóm cần chú ý. Giai cấp cơ bản gắn với phương thức sản xuất thống trị. Giai cấp không cơ bản liên hệ với những phương thức sản xuất còn là tàn dư hoặc đang xuất hiện dưới dạng mầm mống. Bên cạnh đó có các tầng lớp và nhóm xã hội như trí thức, nhân sĩ hay giới tu hành. Chúng ta không nên tự động gọi mọi nhóm nghề nghiệp là một giai cấp độc lập. Điều cần phân tích vẫn là vị trí của nhóm ấy trong toàn bộ cấu trúc và quan hệ sản xuất.</a:t>
            </a:r>
            <a:endParaRPr lang="en-US" sz="2000" b="0" u="none" strike="noStrike">
              <a:solidFill>
                <a:srgbClr val="000000"/>
              </a:solidFill>
              <a:effectLst/>
              <a:uFillTx/>
              <a:latin typeface="Arial"/>
            </a:endParaRPr>
          </a:p>
        </p:txBody>
      </p:sp>
      <p:sp>
        <p:nvSpPr>
          <p:cNvPr id="663"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F7AA3F0-4534-4084-A53E-F957DCFAD47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sldImg"/>
          </p:nvPr>
        </p:nvSpPr>
        <p:spPr>
          <a:xfrm>
            <a:off x="1143000" y="685800"/>
            <a:ext cx="4571640" cy="3428640"/>
          </a:xfrm>
          <a:prstGeom prst="rect">
            <a:avLst/>
          </a:prstGeom>
          <a:ln w="0">
            <a:noFill/>
          </a:ln>
        </p:spPr>
      </p:sp>
      <p:sp>
        <p:nvSpPr>
          <p:cNvPr id="66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48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Đấu tranh giai cấp được tài liệu hiểu là cuộc đấu tranh giữa các tập đoàn người to lớn có lợi ích cơ bản đối lập trong một phương thức sản xuất nhất định. Căn nguyên sâu xa gắn với mâu thuẫn giữa lực lượng sản xuất và quan hệ sản xuất, cùng quan hệ áp bức, bóc lột. Theo hệ thống lý luận đang trình bày, trong xã hội có giai cấp đối kháng, đấu tranh này là động lực trực tiếp dẫn tới những bước chuyển về hình thái kinh tế – xã hội. Cần giữ đúng điều kiện của nhận định đó. Nhóm bổ sung một lưu ý: xích mích giữa hai cá nhân chưa đủ để kết luận là đấu tranh giai cấp. Phải xem lợi ích và quan hệ xã hội phía sau.</a:t>
            </a:r>
            <a:endParaRPr lang="en-US" sz="2000" b="0" u="none" strike="noStrike">
              <a:solidFill>
                <a:srgbClr val="000000"/>
              </a:solidFill>
              <a:effectLst/>
              <a:uFillTx/>
              <a:latin typeface="Arial"/>
            </a:endParaRPr>
          </a:p>
        </p:txBody>
      </p:sp>
      <p:sp>
        <p:nvSpPr>
          <p:cNvPr id="666"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F6AD8DB-3587-46D3-95A2-5224CBFC43B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sldImg"/>
          </p:nvPr>
        </p:nvSpPr>
        <p:spPr>
          <a:xfrm>
            <a:off x="1143000" y="685800"/>
            <a:ext cx="4571640" cy="3428640"/>
          </a:xfrm>
          <a:prstGeom prst="rect">
            <a:avLst/>
          </a:prstGeom>
          <a:ln w="0">
            <a:noFill/>
          </a:ln>
        </p:spPr>
      </p:sp>
      <p:sp>
        <p:nvSpPr>
          <p:cNvPr id="66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34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Bây giờ chúng ta chuyển từ cấu trúc giai cấp sang các hình thức cộng đồng người. Tài liệu mô tả trình tự thị tộc, bộ lạc, bộ tộc rồi dân tộc. Chiều phát triển nổi bật là từ quan hệ huyết thống ban đầu sang những liên kết rộng và bền vững hơn dựa trên lãnh thổ, kinh tế, văn hóa và tổ chức chính trị. Slide dùng một trục tiến trình thay cho các mốc năm, vì tài liệu không cung cấp lịch biểu thống nhất cho từng hình thức. Mục đích là nhận ra sự thay đổi trong cơ sở gắn kết cộng đồng. Ở slide tiếp theo, chúng ta sẽ phân biệt kỹ ba hình thức xuất hiện trước dân tộc.</a:t>
            </a:r>
            <a:endParaRPr lang="en-US" sz="2000" b="0" u="none" strike="noStrike">
              <a:solidFill>
                <a:srgbClr val="000000"/>
              </a:solidFill>
              <a:effectLst/>
              <a:uFillTx/>
              <a:latin typeface="Arial"/>
            </a:endParaRPr>
          </a:p>
        </p:txBody>
      </p:sp>
      <p:sp>
        <p:nvSpPr>
          <p:cNvPr id="669"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BC1D492-EF42-4A16-B6F4-18FA5160E8E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PlaceHolder 1"/>
          <p:cNvSpPr>
            <a:spLocks noGrp="1"/>
          </p:cNvSpPr>
          <p:nvPr>
            <p:ph type="sldImg"/>
          </p:nvPr>
        </p:nvSpPr>
        <p:spPr>
          <a:xfrm>
            <a:off x="1143000" y="685800"/>
            <a:ext cx="4571640" cy="3428640"/>
          </a:xfrm>
          <a:prstGeom prst="rect">
            <a:avLst/>
          </a:prstGeom>
          <a:ln w="0">
            <a:noFill/>
          </a:ln>
        </p:spPr>
      </p:sp>
      <p:sp>
        <p:nvSpPr>
          <p:cNvPr id="67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53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Thị tộc là cộng đồng sơ khai, với quy mô tài liệu nêu từ vài chục đến vài trăm người. Đời sống kinh tế dựa trên sở hữu chung và lao động chung, chủ yếu hái lượm, săn bắt. Bộ lạc hình thành từ nhiều thị tộc liên kết vì quan hệ huyết thống hoặc hôn nhân, đồng thời đáp ứng nhu cầu hợp sức và tự vệ. Bộ tộc có phạm vi rộng hơn và không nhất thiết dựa trên cùng huyết thống. Lãnh thổ tương đối ổn định, các yếu tố văn hóa và ngôn ngữ chung dần xuất hiện. Theo tài liệu, giai đoạn này gắn với phân hóa giai cấp và sự ra đời của nhà nước. Như vậy, chỉ nhìn số người đông hơn là chưa đủ; phải xem cộng đồng được gắn kết bằng điều gì.</a:t>
            </a:r>
            <a:endParaRPr lang="en-US" sz="2000" b="0" u="none" strike="noStrike">
              <a:solidFill>
                <a:srgbClr val="000000"/>
              </a:solidFill>
              <a:effectLst/>
              <a:uFillTx/>
              <a:latin typeface="Arial"/>
            </a:endParaRPr>
          </a:p>
        </p:txBody>
      </p:sp>
      <p:sp>
        <p:nvSpPr>
          <p:cNvPr id="672"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6791C27-9437-4F02-8496-A2E6AF123E6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sldImg"/>
          </p:nvPr>
        </p:nvSpPr>
        <p:spPr>
          <a:xfrm>
            <a:off x="1143000" y="685800"/>
            <a:ext cx="4571640" cy="3428640"/>
          </a:xfrm>
          <a:prstGeom prst="rect">
            <a:avLst/>
          </a:prstGeom>
          <a:ln w="0">
            <a:noFill/>
          </a:ln>
        </p:spPr>
      </p:sp>
      <p:sp>
        <p:nvSpPr>
          <p:cNvPr id="67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48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Từ dân tộc trong tiếng Việt có hai nghĩa được tài liệu nêu rõ. Nghĩa thứ nhất chỉ quốc gia – dân tộc, ví dụ Việt Nam hay Pháp. Nghĩa thứ hai chỉ tộc người, như Kinh, Tày hoặc Khmer trong một quốc gia. Đây là điểm rất quan trọng để tránh nhầm lẫn. Một quốc gia có thể có nhiều tộc người; vì vậy không thể yêu cầu mỗi tộc người đều phải có một nhà nước và hệ thống pháp luật riêng. Khi các slide tiếp theo nói đến nhà nước và pháp luật thống nhất, chúng ta đang dùng nghĩa quốc gia – dân tộc. Trong mạch khái quát của tài liệu, dân tộc là cộng đồng ổn định hình thành trong lịch sử, với các nền tảng gắn kết chung.</a:t>
            </a:r>
            <a:endParaRPr lang="en-US" sz="2000" b="0" u="none" strike="noStrike">
              <a:solidFill>
                <a:srgbClr val="000000"/>
              </a:solidFill>
              <a:effectLst/>
              <a:uFillTx/>
              <a:latin typeface="Arial"/>
            </a:endParaRPr>
          </a:p>
        </p:txBody>
      </p:sp>
      <p:sp>
        <p:nvSpPr>
          <p:cNvPr id="675"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D3ABBC4-56AF-49C4-8010-C621EC29BBB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sldImg"/>
          </p:nvPr>
        </p:nvSpPr>
        <p:spPr>
          <a:xfrm>
            <a:off x="1143000" y="685800"/>
            <a:ext cx="4571640" cy="3428640"/>
          </a:xfrm>
          <a:prstGeom prst="rect">
            <a:avLst/>
          </a:prstGeom>
          <a:ln w="0">
            <a:noFill/>
          </a:ln>
        </p:spPr>
      </p:sp>
      <p:sp>
        <p:nvSpPr>
          <p:cNvPr id="67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48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Trong phần đầu, tài liệu nêu bốn nền tảng là lãnh thổ, kinh tế, ngôn ngữ và văn hóa. Đến phần các đặc trưng chủ yếu, tài liệu bổ sung nhà nước và pháp luật thống nhất, thành năm đặc trưng. Nhóm trình bày hai mức này một cách minh bạch thay vì coi chúng là hai danh sách mâu thuẫn hoàn toàn. Chúng ta đang nói tới quốc gia – dân tộc. Ngôn ngữ chung ở đây không có nghĩa phủ nhận các ngôn ngữ tộc người; văn hóa chung cũng không có nghĩa mọi cộng đồng phải giống nhau. Những lời giải thích đó giúp tránh cách hiểu tuyệt đối hóa tính thống nhất. Yếu tố cần thấy là khả năng gắn kết bền vững của một cộng đồng trong lịch sử.</a:t>
            </a:r>
            <a:endParaRPr lang="en-US" sz="2000" b="0" u="none" strike="noStrike">
              <a:solidFill>
                <a:srgbClr val="000000"/>
              </a:solidFill>
              <a:effectLst/>
              <a:uFillTx/>
              <a:latin typeface="Arial"/>
            </a:endParaRPr>
          </a:p>
        </p:txBody>
      </p:sp>
      <p:sp>
        <p:nvSpPr>
          <p:cNvPr id="678"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8E8A1F8-C057-4532-8B60-52A9F7C8CAF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type="sldImg"/>
          </p:nvPr>
        </p:nvSpPr>
        <p:spPr>
          <a:xfrm>
            <a:off x="1143000" y="685800"/>
            <a:ext cx="4571640" cy="3428640"/>
          </a:xfrm>
          <a:prstGeom prst="rect">
            <a:avLst/>
          </a:prstGeom>
          <a:ln w="0">
            <a:noFill/>
          </a:ln>
        </p:spPr>
      </p:sp>
      <p:sp>
        <p:nvSpPr>
          <p:cNvPr id="68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53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Tài liệu khái quát hai con đường hình thành ở châu Âu. Con đường thứ nhất nhấn mạnh việc thống nhất lãnh thổ và thị trường, cùng sự hòa nhập nhiều bộ tộc để hình thành quốc gia dân tộc. Con đường thứ hai đặt trong bối cảnh chủ nghĩa tư bản phát triển khi chế độ phong kiến chưa hoàn toàn bị xóa bỏ; các cộng đồng có nguồn gốc riêng cùng tồn tại trong một quốc gia đa dân tộc. Các ví dụ trên slide được giữ như ví dụ của tài liệu, không phải một bảng phân loại lịch sử đầy đủ. Bản gốc còn đặt quá trình này trong bối cảnh cách mạng tư sản, đấu tranh giải phóng dân tộc và sự ra đời các dân tộc xã hội chủ nghĩa. Điểm cần nhớ là quá trình thống nhất không diễn ra theo một cách duy nhất.</a:t>
            </a:r>
            <a:endParaRPr lang="en-US" sz="2000" b="0" u="none" strike="noStrike">
              <a:solidFill>
                <a:srgbClr val="000000"/>
              </a:solidFill>
              <a:effectLst/>
              <a:uFillTx/>
              <a:latin typeface="Arial"/>
            </a:endParaRPr>
          </a:p>
        </p:txBody>
      </p:sp>
      <p:sp>
        <p:nvSpPr>
          <p:cNvPr id="681"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DA97D52-161D-47AA-B47F-5777D053129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type="sldImg"/>
          </p:nvPr>
        </p:nvSpPr>
        <p:spPr>
          <a:xfrm>
            <a:off x="1143000" y="685800"/>
            <a:ext cx="4571640" cy="3428640"/>
          </a:xfrm>
          <a:prstGeom prst="rect">
            <a:avLst/>
          </a:prstGeom>
          <a:ln w="0">
            <a:noFill/>
          </a:ln>
        </p:spPr>
      </p:sp>
      <p:sp>
        <p:nvSpPr>
          <p:cNvPr id="68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1 • 53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Khác với cách khái quát về phương Tây, tài liệu nhấn mạnh sự hình thành sớm của dân tộc ở phương Đông, gắn với trị thủy và chống ngoại xâm, không phụ thuộc hoàn toàn vào sự ra đời của chủ nghĩa tư bản. Với Việt Nam, mạch dựng nước và giữ nước là điểm nổi bật. Tài liệu lấy sự bảo tồn tiếng nói và phong tục qua thời kỳ Bắc thuộc để minh họa sức bền của cộng đồng. Chúng ta nên hiểu đây là cách diễn giải khái quát theo tài liệu học tập, không đồng nhất ngay cộng đồng cổ đại với đầy đủ thể chế của một quốc gia hiện đại. Đến đây, em xin chuyển cho bạn thứ hai tiếp tục phần đấu tranh của giai cấp vô sản và các mối quan hệ rộng hơn.</a:t>
            </a:r>
            <a:endParaRPr lang="en-US" sz="2000" b="0" u="none" strike="noStrike">
              <a:solidFill>
                <a:srgbClr val="000000"/>
              </a:solidFill>
              <a:effectLst/>
              <a:uFillTx/>
              <a:latin typeface="Arial"/>
            </a:endParaRPr>
          </a:p>
        </p:txBody>
      </p:sp>
      <p:sp>
        <p:nvSpPr>
          <p:cNvPr id="684"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D29A0C-AEFE-4581-8C4E-C913FECA989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PlaceHolder 1"/>
          <p:cNvSpPr>
            <a:spLocks noGrp="1"/>
          </p:cNvSpPr>
          <p:nvPr>
            <p:ph type="sldImg"/>
          </p:nvPr>
        </p:nvSpPr>
        <p:spPr>
          <a:xfrm>
            <a:off x="1143000" y="685800"/>
            <a:ext cx="4571640" cy="3428640"/>
          </a:xfrm>
          <a:prstGeom prst="rect">
            <a:avLst/>
          </a:prstGeom>
          <a:ln w="0">
            <a:noFill/>
          </a:ln>
        </p:spPr>
      </p:sp>
      <p:sp>
        <p:nvSpPr>
          <p:cNvPr id="68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2 • 48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Cảm ơn bạn. Em tiếp tục từ cuộc đấu tranh của giai cấp vô sản. Tài liệu xác định chủ thể là người lao động làm thuê, trong quan hệ có mâu thuẫn lợi ích cơ bản với giai cấp tư sản. Những mâu thuẫn đó không chỉ là vấn đề tiền lương, mà còn liên quan đến địa vị và quyền lực xã hội. Bản gốc giải thích bóc lột thông qua giá trị thặng dư. Để dùng thuật ngữ chính xác hơn, nhóm làm rõ đây là phần giá trị mới do người lao động tạo ra vượt quá giá trị sức lao động; không nên hiểu đơn giản thành doanh thu trừ tiền lương. Theo mạch lý luận của tài liệu, quá trình đấu tranh hướng từ bảo vệ quyền lợi trước mắt đến mục tiêu cải biến xã hội.</a:t>
            </a:r>
            <a:endParaRPr lang="en-US" sz="2000" b="0" u="none" strike="noStrike">
              <a:solidFill>
                <a:srgbClr val="000000"/>
              </a:solidFill>
              <a:effectLst/>
              <a:uFillTx/>
              <a:latin typeface="Arial"/>
            </a:endParaRPr>
          </a:p>
        </p:txBody>
      </p:sp>
      <p:sp>
        <p:nvSpPr>
          <p:cNvPr id="687"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210C305-1BAB-4359-809F-F0F7F04B161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PlaceHolder 1"/>
          <p:cNvSpPr>
            <a:spLocks noGrp="1"/>
          </p:cNvSpPr>
          <p:nvPr>
            <p:ph type="sldImg"/>
          </p:nvPr>
        </p:nvSpPr>
        <p:spPr>
          <a:xfrm>
            <a:off x="1143000" y="685800"/>
            <a:ext cx="4571640" cy="3428640"/>
          </a:xfrm>
          <a:prstGeom prst="rect">
            <a:avLst/>
          </a:prstGeom>
          <a:ln w="0">
            <a:noFill/>
          </a:ln>
        </p:spPr>
      </p:sp>
      <p:sp>
        <p:nvSpPr>
          <p:cNvPr id="68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2 • 62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Khi chưa giành chính quyền, tài liệu chia thành ba hình thức. Đấu tranh kinh tế tập trung vào các yêu cầu như tăng lương, giảm giờ làm, thông qua thương lượng, kiến nghị hoặc tổ chức đại diện. Đấu tranh chính trị hướng tới quyền lực nhà nước và thay đổi địa vị chính trị. Đấu tranh tư tưởng tác động đến nhận thức, thông qua giáo dục, tuyên truyền và phản biện. Chúng không phải ba chiếc hộp đóng kín: một hoạt động có thể có nhiều phương diện. Tuy nhiên, trong hệ thống lý luận của tài liệu, đấu tranh chính trị được xác định là hình thức cao nhất, bởi nó trực tiếp đặt ra vấn đề quyền lực để thực hiện các mục tiêu biến đổi xã hội sâu rộng.</a:t>
            </a:r>
            <a:endParaRPr lang="en-US" sz="2000" b="0" u="none" strike="noStrike">
              <a:solidFill>
                <a:srgbClr val="000000"/>
              </a:solidFill>
              <a:effectLst/>
              <a:uFillTx/>
              <a:latin typeface="Arial"/>
            </a:endParaRPr>
          </a:p>
        </p:txBody>
      </p:sp>
      <p:sp>
        <p:nvSpPr>
          <p:cNvPr id="690"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2F311E9-432B-4CA6-91A1-CAEDB84AEF4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 name="PlaceHolder 1"/>
          <p:cNvSpPr>
            <a:spLocks noGrp="1"/>
          </p:cNvSpPr>
          <p:nvPr>
            <p:ph type="sldImg"/>
          </p:nvPr>
        </p:nvSpPr>
        <p:spPr>
          <a:xfrm>
            <a:off x="1143000" y="685800"/>
            <a:ext cx="4571640" cy="3428640"/>
          </a:xfrm>
          <a:prstGeom prst="rect">
            <a:avLst/>
          </a:prstGeom>
          <a:ln w="0">
            <a:noFill/>
          </a:ln>
        </p:spPr>
      </p:sp>
      <p:sp>
        <p:nvSpPr>
          <p:cNvPr id="69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2 • 53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Câu hỏi của tài liệu là vì sao đấu tranh chính trị có ý nghĩa quyết định. Câu trả lời nằm ở quyền lực nhà nước. Theo mạch lý luận này, đạt một yêu cầu kinh tế có thể cải thiện đời sống trước mắt, nhưng để cải biến quan hệ xã hội một cách căn bản, giai cấp vô sản cần điều kiện quyền lực chính trị. Tài liệu cũng nhắc các phong trào đập phá máy móc và các cuộc bãi công đòi tăng lương, giảm giờ làm. Hai ví dụ giúp thấy biểu hiện lịch sử của sự phản kháng và bảo vệ quyền lợi. Không nên suy từ đó rằng mọi phong trào đều tự động chuyển theo một chuỗi giống nhau. Điều cần rút ra là sự liên hệ giữa mục tiêu trước mắt, tổ chức và nhận thức chính trị.</a:t>
            </a:r>
            <a:endParaRPr lang="en-US" sz="2000" b="0" u="none" strike="noStrike">
              <a:solidFill>
                <a:srgbClr val="000000"/>
              </a:solidFill>
              <a:effectLst/>
              <a:uFillTx/>
              <a:latin typeface="Arial"/>
            </a:endParaRPr>
          </a:p>
        </p:txBody>
      </p:sp>
      <p:sp>
        <p:nvSpPr>
          <p:cNvPr id="693"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15B926F-79CC-4F0C-AD42-63F1178DEE3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PlaceHolder 1"/>
          <p:cNvSpPr>
            <a:spLocks noGrp="1"/>
          </p:cNvSpPr>
          <p:nvPr>
            <p:ph type="sldImg"/>
          </p:nvPr>
        </p:nvSpPr>
        <p:spPr>
          <a:xfrm>
            <a:off x="1143000" y="685800"/>
            <a:ext cx="4571640" cy="3428640"/>
          </a:xfrm>
          <a:prstGeom prst="rect">
            <a:avLst/>
          </a:prstGeom>
          <a:ln w="0">
            <a:noFill/>
          </a:ln>
        </p:spPr>
      </p:sp>
      <p:sp>
        <p:nvSpPr>
          <p:cNvPr id="69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2 • 43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Trong thời kỳ quá độ, tài liệu chuyển trọng tâm sang hai nhiệm vụ diễn ra đồng thời. Một mặt là bảo vệ thành quả cách mạng và cải tạo xã hội cũ. Mặt khác là xây dựng xã hội mới trên nhiều lĩnh vực, từ kinh tế và chính trị đến tư tưởng và văn hóa. Hai nhiệm vụ gắn bó với nhau: bảo vệ tạo điều kiện cho xây dựng, còn xây dựng tạo cơ sở để bảo vệ bền vững. Bản gốc liệt kê nhiều hình thức và biện pháp, từ hòa bình đến bạo lực, từ kinh tế đến quân sự, từ giáo dục đến hành chính. Đây là nội dung lý luận của tài liệu; khi trình bày, chúng ta nhấn mạnh yêu cầu kết hợp phù hợp điều kiện cụ thể, không chuyển thành hướng dẫn hành động.</a:t>
            </a:r>
            <a:endParaRPr lang="en-US" sz="2000" b="0" u="none" strike="noStrike">
              <a:solidFill>
                <a:srgbClr val="000000"/>
              </a:solidFill>
              <a:effectLst/>
              <a:uFillTx/>
              <a:latin typeface="Arial"/>
            </a:endParaRPr>
          </a:p>
        </p:txBody>
      </p:sp>
      <p:sp>
        <p:nvSpPr>
          <p:cNvPr id="696"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C9948A8-B728-4AB3-BBE5-CD66AC69F08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sldImg"/>
          </p:nvPr>
        </p:nvSpPr>
        <p:spPr>
          <a:xfrm>
            <a:off x="1143000" y="685800"/>
            <a:ext cx="4571640" cy="3428640"/>
          </a:xfrm>
          <a:prstGeom prst="rect">
            <a:avLst/>
          </a:prstGeom>
          <a:ln w="0">
            <a:noFill/>
          </a:ln>
        </p:spPr>
      </p:sp>
      <p:sp>
        <p:nvSpPr>
          <p:cNvPr id="69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2 • 48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Với Việt Nam hiện nay, tài liệu nhấn mạnh những điều kiện, nội dung và hình thức mới. Trong nền kinh tế nhiều thành phần, các giai cấp và tầng lớp có những lợi ích khác nhau, đồng thời cùng có mục tiêu phát triển đất nước. Vì vậy, nội dung được khái quát bằng hai mặt vừa đấu tranh, vừa hợp tác, gắn với đại đoàn kết dân tộc. Mục tiêu chung là độc lập dân tộc và chủ nghĩa xã hội, xây dựng xã hội dân giàu, nước mạnh, dân chủ, công bằng, văn minh. Điểm cần tránh là chỉ nhìn sự khác biệt mà bỏ qua khả năng hợp tác, hoặc chỉ nói đoàn kết mà bỏ qua những mâu thuẫn cần giải quyết. Chính sự kết hợp này dẫn sang quan hệ giữa giai cấp và dân tộc.</a:t>
            </a:r>
            <a:endParaRPr lang="en-US" sz="2000" b="0" u="none" strike="noStrike">
              <a:solidFill>
                <a:srgbClr val="000000"/>
              </a:solidFill>
              <a:effectLst/>
              <a:uFillTx/>
              <a:latin typeface="Arial"/>
            </a:endParaRPr>
          </a:p>
        </p:txBody>
      </p:sp>
      <p:sp>
        <p:nvSpPr>
          <p:cNvPr id="699"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92C0414-A3F2-41A8-9077-BCAAC6AD8C9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type="sldImg"/>
          </p:nvPr>
        </p:nvSpPr>
        <p:spPr>
          <a:xfrm>
            <a:off x="1143000" y="685800"/>
            <a:ext cx="4571640" cy="3428640"/>
          </a:xfrm>
          <a:prstGeom prst="rect">
            <a:avLst/>
          </a:prstGeom>
          <a:ln w="0">
            <a:noFill/>
          </a:ln>
        </p:spPr>
      </p:sp>
      <p:sp>
        <p:nvSpPr>
          <p:cNvPr id="70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2 • 58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Giai cấp và dân tộc là hai phạm trù khác nhau. Tài liệu nêu giai cấp xuất hiện trước dân tộc, và khi giai cấp mất đi thì dân tộc vẫn có thể tiếp tục tồn tại. Một dân tộc có thể gồm nhiều giai cấp; ngược lại, một giai cấp có thể hiện diện trong nhiều dân tộc. Trong quan hệ hai chiều, tài liệu xác định quan hệ giai cấp có vai trò quyết định, đặc biệt qua giai cấp lãnh đạo và phương hướng phát triển. Đồng thời, vấn đề dân tộc ảnh hưởng mạnh đến lợi ích và hoạt động của các giai cấp. Với dân tộc bị áp bức, giành độc lập được xem là nhiệm vụ hàng đầu và là tiền đề thuận lợi để thực hiện mục tiêu giải phóng giai cấp.</a:t>
            </a:r>
            <a:endParaRPr lang="en-US" sz="2000" b="0" u="none" strike="noStrike">
              <a:solidFill>
                <a:srgbClr val="000000"/>
              </a:solidFill>
              <a:effectLst/>
              <a:uFillTx/>
              <a:latin typeface="Arial"/>
            </a:endParaRPr>
          </a:p>
        </p:txBody>
      </p:sp>
      <p:sp>
        <p:nvSpPr>
          <p:cNvPr id="702" name="PlaceHolder 3"/>
          <p:cNvSpPr>
            <a:spLocks noGrp="1"/>
          </p:cNvSpPr>
          <p:nvPr>
            <p:ph type="sldNum" idx="5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1261E33-A4F8-4BE6-BF27-56904C475CC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PlaceHolder 1"/>
          <p:cNvSpPr>
            <a:spLocks noGrp="1"/>
          </p:cNvSpPr>
          <p:nvPr>
            <p:ph type="sldImg"/>
          </p:nvPr>
        </p:nvSpPr>
        <p:spPr>
          <a:xfrm>
            <a:off x="1143000" y="685800"/>
            <a:ext cx="4571640" cy="3428640"/>
          </a:xfrm>
          <a:prstGeom prst="rect">
            <a:avLst/>
          </a:prstGeom>
          <a:ln w="0">
            <a:noFill/>
          </a:ln>
        </p:spPr>
      </p:sp>
      <p:sp>
        <p:nvSpPr>
          <p:cNvPr id="70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2 • 48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Ở phạm vi rộng nhất, nhân loại là toàn thể cộng đồng người trên Trái Đất. Tài liệu trình bày ba quan hệ chính. Thứ nhất, trong xã hội có giai cấp, lợi ích nhân loại gắn với và chịu tác động của lợi ích giai cấp, dân tộc. Thứ hai, sự tồn tại của nhân loại là tiền đề cho sự tồn tại của các cộng đồng ấy. Thứ ba, sự tiến bộ về kinh tế, chính trị, văn hóa và xã hội tạo điều kiện thuận lợi cho các quá trình giải phóng. Như vậy, không thể chỉ đặt lợi ích riêng trong một không gian khép kín. Kết luận của phần này là cần giải quyết hài hòa các cấp độ lợi ích để góp phần vào hòa bình và tiến bộ xã hội.</a:t>
            </a:r>
            <a:endParaRPr lang="en-US" sz="2000" b="0" u="none" strike="noStrike">
              <a:solidFill>
                <a:srgbClr val="000000"/>
              </a:solidFill>
              <a:effectLst/>
              <a:uFillTx/>
              <a:latin typeface="Arial"/>
            </a:endParaRPr>
          </a:p>
        </p:txBody>
      </p:sp>
      <p:sp>
        <p:nvSpPr>
          <p:cNvPr id="705"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F2473BB-C12A-423B-AC45-7A2E923374D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sldImg"/>
          </p:nvPr>
        </p:nvSpPr>
        <p:spPr>
          <a:xfrm>
            <a:off x="1143000" y="685800"/>
            <a:ext cx="4571640" cy="3428640"/>
          </a:xfrm>
          <a:prstGeom prst="rect">
            <a:avLst/>
          </a:prstGeom>
          <a:ln w="0">
            <a:noFill/>
          </a:ln>
        </p:spPr>
      </p:sp>
      <p:sp>
        <p:nvSpPr>
          <p:cNvPr id="70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2 • 53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Để vận dụng, nhóm bổ sung một tình huống giả định về chuyển đổi năng lượng. Đây không phải một sự kiện hay số liệu lấy từ tài liệu. Giả sử một ngành phải thay đổi công nghệ để giảm tác động môi trường. Người lao động quan tâm đến việc làm và thu nhập; quốc gia quan tâm đến an ninh năng lượng và khả năng phát triển; nhân loại quan tâm đến môi trường và khí hậu. Nếu chỉ theo một mục tiêu, chính sách có thể làm những lợi ích còn lại bị tổn hại. Gợi ý thảo luận là kết hợp đào tạo lại, hỗ trợ chuyển việc và lộ trình phù hợp. Ví dụ không thay thế phân tích giai cấp đầy đủ, nhưng giúp thấy vì sao cần xem quan hệ giữa lợi ích cụ thể và lợi ích chung.</a:t>
            </a:r>
            <a:endParaRPr lang="en-US" sz="2000" b="0" u="none" strike="noStrike">
              <a:solidFill>
                <a:srgbClr val="000000"/>
              </a:solidFill>
              <a:effectLst/>
              <a:uFillTx/>
              <a:latin typeface="Arial"/>
            </a:endParaRPr>
          </a:p>
        </p:txBody>
      </p:sp>
      <p:sp>
        <p:nvSpPr>
          <p:cNvPr id="708" name="PlaceHolder 3"/>
          <p:cNvSpPr>
            <a:spLocks noGrp="1"/>
          </p:cNvSpPr>
          <p:nvPr>
            <p:ph type="sldNum" idx="5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932A3A5-03F1-49BD-91E4-873131EE48D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 name="PlaceHolder 1"/>
          <p:cNvSpPr>
            <a:spLocks noGrp="1"/>
          </p:cNvSpPr>
          <p:nvPr>
            <p:ph type="sldImg"/>
          </p:nvPr>
        </p:nvSpPr>
        <p:spPr>
          <a:xfrm>
            <a:off x="1143000" y="685800"/>
            <a:ext cx="4571640" cy="3428640"/>
          </a:xfrm>
          <a:prstGeom prst="rect">
            <a:avLst/>
          </a:prstGeom>
          <a:ln w="0">
            <a:noFill/>
          </a:ln>
        </p:spPr>
      </p:sp>
      <p:sp>
        <p:nvSpPr>
          <p:cNvPr id="71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2 • 34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Chúng ta có thể thu gọn bài thành năm từ khóa. Sản xuất giúp giải thích nguồn gốc và địa vị giai cấp. Cộng đồng giúp theo dõi sự thay đổi từ thị tộc đến dân tộc. Đấu tranh đặt ra các hình thức và nhiệm vụ khác nhau theo giai đoạn. Tác động qua lại kết nối giai cấp, dân tộc với nhân loại. Cuối cùng, hài hòa lợi ích là yêu cầu rút ra khi đặt các phạm trù trong cùng một tổng thể. Khi ôn tập, các bạn có thể bắt đầu từ một nhánh rồi tự nối sang nhánh bên cạnh. Ví dụ, từ sản xuất sang giai cấp, từ giai cấp sang lợi ích, rồi từ lợi ích sang vấn đề dân tộc và nhân loại. Cách học này giúp hiểu mạch lập luận thay vì chỉ nhớ thuật ngữ.</a:t>
            </a:r>
            <a:endParaRPr lang="en-US" sz="2000" b="0" u="none" strike="noStrike">
              <a:solidFill>
                <a:srgbClr val="000000"/>
              </a:solidFill>
              <a:effectLst/>
              <a:uFillTx/>
              <a:latin typeface="Arial"/>
            </a:endParaRPr>
          </a:p>
        </p:txBody>
      </p:sp>
      <p:sp>
        <p:nvSpPr>
          <p:cNvPr id="711" name="PlaceHolder 3"/>
          <p:cNvSpPr>
            <a:spLocks noGrp="1"/>
          </p:cNvSpPr>
          <p:nvPr>
            <p:ph type="sldNum" idx="5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3F24203-038A-45E5-B4B5-07B4353F3BD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 name="PlaceHolder 1"/>
          <p:cNvSpPr>
            <a:spLocks noGrp="1"/>
          </p:cNvSpPr>
          <p:nvPr>
            <p:ph type="sldImg"/>
          </p:nvPr>
        </p:nvSpPr>
        <p:spPr>
          <a:xfrm>
            <a:off x="1143000" y="685800"/>
            <a:ext cx="4571640" cy="3428640"/>
          </a:xfrm>
          <a:prstGeom prst="rect">
            <a:avLst/>
          </a:prstGeom>
          <a:ln w="0">
            <a:noFill/>
          </a:ln>
        </p:spPr>
      </p:sp>
      <p:sp>
        <p:nvSpPr>
          <p:cNvPr id="71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2 • 38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Trước khi kết thúc, nhóm nhấn mạnh ba điều. Một là dùng đúng khái niệm, nhất là hai nghĩa của dân tộc. Hai là đặt quá trình và hình thức đấu tranh trong điều kiện lịch sử cụ thể. Ba là xem các lợi ích trong mối quan hệ tác động qua lại. Xin mời các bạn suy nghĩ câu hỏi cuối: vì sao không thể lấy việc mỗi tộc người có một nhà nước riêng làm đặc trưng cho mọi dân tộc? Gợi ý trả lời là câu đó đã nhầm nghĩa tộc người với nghĩa quốc gia – dân tộc. Nhiều tộc người có thể cùng tồn tại trong một quốc gia có nhà nước và pháp luật thống nhất. Nếu phân biệt được điểm này, chúng ta đã nắm một trong những nút kiến thức quan trọng nhất của bài.</a:t>
            </a:r>
            <a:endParaRPr lang="en-US" sz="2000" b="0" u="none" strike="noStrike">
              <a:solidFill>
                <a:srgbClr val="000000"/>
              </a:solidFill>
              <a:effectLst/>
              <a:uFillTx/>
              <a:latin typeface="Arial"/>
            </a:endParaRPr>
          </a:p>
        </p:txBody>
      </p:sp>
      <p:sp>
        <p:nvSpPr>
          <p:cNvPr id="714" name="PlaceHolder 3"/>
          <p:cNvSpPr>
            <a:spLocks noGrp="1"/>
          </p:cNvSpPr>
          <p:nvPr>
            <p:ph type="sldNum" idx="6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5C5E86B-ABF0-4215-8D33-2A133809FDE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PlaceHolder 1"/>
          <p:cNvSpPr>
            <a:spLocks noGrp="1"/>
          </p:cNvSpPr>
          <p:nvPr>
            <p:ph type="sldImg"/>
          </p:nvPr>
        </p:nvSpPr>
        <p:spPr>
          <a:xfrm>
            <a:off x="1143000" y="685800"/>
            <a:ext cx="4571640" cy="3428640"/>
          </a:xfrm>
          <a:prstGeom prst="rect">
            <a:avLst/>
          </a:prstGeom>
          <a:ln w="0">
            <a:noFill/>
          </a:ln>
        </p:spPr>
      </p:sp>
      <p:sp>
        <p:nvSpPr>
          <p:cNvPr id="71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Người trình bày 2 • 18 giây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Phần trình bày của nhóm đến đây là kết thúc. Chúng em cảm ơn thầy cô và các bạn đã lắng nghe. Nguồn nền của bài là tệp triet.docx được cung cấp, trong đó chưa có thông tin thư mục đầy đủ nên nhóm không tự thêm tên tác giả hay số trang. Các ví dụ bổ sung, phần diễn giải sư phạm và sơ đồ được nhóm tách rõ với nội dung nguồn. Nhóm xin nhận câu hỏi về khái niệm giai cấp, hai nghĩa của dân tộc, hoặc quan hệ với nhân loại. Nếu có điểm cần đối chiếu sâu hơn với giáo trình chính thức của lớp, chúng em sẽ tiếp tục kiểm tra theo hướng dẫn của thầy cô. Xin trân trọng cảm ơn.</a:t>
            </a:r>
            <a:endParaRPr lang="en-US" sz="2000" b="0" u="none" strike="noStrike">
              <a:solidFill>
                <a:srgbClr val="000000"/>
              </a:solidFill>
              <a:effectLst/>
              <a:uFillTx/>
              <a:latin typeface="Arial"/>
            </a:endParaRPr>
          </a:p>
        </p:txBody>
      </p:sp>
      <p:sp>
        <p:nvSpPr>
          <p:cNvPr id="717" name="PlaceHolder 3"/>
          <p:cNvSpPr>
            <a:spLocks noGrp="1"/>
          </p:cNvSpPr>
          <p:nvPr>
            <p:ph type="sldNum" idx="6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55F3B6A-CB49-469D-94BB-756BA14CFC3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ABD4139-D5DF-489D-8942-321A9D092DC7}"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0DE9363-6195-4935-BE57-404B44D006E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BCE7084-5675-4F38-A7FD-A6E6C090614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31660C1-D7D8-4FEF-9676-1015152CF61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F30B269-6C17-470F-A86E-672A8416537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88ECA5B-135F-4DBD-95DB-0A1AF5C4DB7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6AED76A-7C56-430A-9D23-62403253E3F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68115CD-2F9E-4D80-88DA-4678F2C0059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E1D7E4A-D053-4351-91CC-498EF3024DD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28FCBF9-9AB5-4CD0-BF57-90FCC44331E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72BA98B-F948-4C45-9E78-EB2ED99E013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C3A"/>
        </a:solidFill>
      </p:bgPr>
    </p:bg>
    <p:spTree>
      <p:nvGrpSpPr>
        <p:cNvPr id="1" name=""/>
        <p:cNvGrpSpPr/>
        <p:nvPr/>
      </p:nvGrpSpPr>
      <p:grpSpPr>
        <a:xfrm>
          <a:off x="0" y="0"/>
          <a:ext cx="0" cy="0"/>
          <a:chOff x="0" y="0"/>
          <a:chExt cx="0" cy="0"/>
        </a:xfrm>
      </p:grpSpPr>
      <p:sp>
        <p:nvSpPr>
          <p:cNvPr id="67"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68"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B8CED3"/>
                </a:solidFill>
                <a:effectLst/>
                <a:uFillTx/>
                <a:latin typeface="DejaVu Sans"/>
              </a:rPr>
              <a:t>TRIẾT HỌC MÁC – LÊNIN  /  GIAI CẤP • DÂN TỘC • NHÂN LOẠI</a:t>
            </a:r>
            <a:endParaRPr lang="en-US" sz="1000" b="0" u="none" strike="noStrike">
              <a:solidFill>
                <a:srgbClr val="FFFFFF"/>
              </a:solidFill>
              <a:effectLst/>
              <a:uFillTx/>
              <a:latin typeface="Arial"/>
            </a:endParaRPr>
          </a:p>
        </p:txBody>
      </p:sp>
      <p:sp>
        <p:nvSpPr>
          <p:cNvPr id="69"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3000" b="1" u="none" strike="noStrike">
                <a:solidFill>
                  <a:srgbClr val="FFFFFF"/>
                </a:solidFill>
                <a:effectLst/>
                <a:uFillTx/>
                <a:latin typeface="DejaVu Sans"/>
              </a:rPr>
              <a:t>GIAI CẤP, DÂN TỘC</a:t>
            </a:r>
            <a:endParaRPr lang="en-US" sz="3000" b="0" u="none" strike="noStrike">
              <a:solidFill>
                <a:srgbClr val="FFFFFF"/>
              </a:solidFill>
              <a:effectLst/>
              <a:uFillTx/>
              <a:latin typeface="Arial"/>
            </a:endParaRPr>
          </a:p>
          <a:p>
            <a:pPr defTabSz="457200">
              <a:lnSpc>
                <a:spcPct val="100000"/>
              </a:lnSpc>
              <a:spcAft>
                <a:spcPts val="700"/>
              </a:spcAft>
            </a:pPr>
            <a:r>
              <a:rPr lang="en-US" sz="3000" b="1" u="none" strike="noStrike">
                <a:solidFill>
                  <a:srgbClr val="FFFFFF"/>
                </a:solidFill>
                <a:effectLst/>
                <a:uFillTx/>
                <a:latin typeface="DejaVu Sans"/>
              </a:rPr>
              <a:t>VÀ NHÂN LOẠI</a:t>
            </a:r>
            <a:endParaRPr lang="en-US" sz="3000" b="0" u="none" strike="noStrike">
              <a:solidFill>
                <a:srgbClr val="FFFFFF"/>
              </a:solidFill>
              <a:effectLst/>
              <a:uFillTx/>
              <a:latin typeface="Arial"/>
            </a:endParaRPr>
          </a:p>
        </p:txBody>
      </p:sp>
      <p:sp>
        <p:nvSpPr>
          <p:cNvPr id="70"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B8CED3"/>
                </a:solidFill>
                <a:effectLst/>
                <a:uFillTx/>
                <a:latin typeface="DejaVu Sans"/>
              </a:rPr>
              <a:t>Triết học Mác – Lênin • Từ cấu trúc xã hội đến những lợi ích chung</a:t>
            </a:r>
            <a:endParaRPr lang="en-US" sz="1500" b="0" u="none" strike="noStrike">
              <a:solidFill>
                <a:srgbClr val="FFFFFF"/>
              </a:solidFill>
              <a:effectLst/>
              <a:uFillTx/>
              <a:latin typeface="Arial"/>
            </a:endParaRPr>
          </a:p>
        </p:txBody>
      </p:sp>
      <p:sp>
        <p:nvSpPr>
          <p:cNvPr id="71" name="Rounded Rectangle 5"/>
          <p:cNvSpPr/>
          <p:nvPr/>
        </p:nvSpPr>
        <p:spPr>
          <a:xfrm>
            <a:off x="594360" y="2697480"/>
            <a:ext cx="3526200" cy="290736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2" name="Rectangle 6"/>
          <p:cNvSpPr/>
          <p:nvPr/>
        </p:nvSpPr>
        <p:spPr>
          <a:xfrm>
            <a:off x="594360" y="2697480"/>
            <a:ext cx="50040" cy="290736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3" name="TextBox 7"/>
          <p:cNvSpPr/>
          <p:nvPr/>
        </p:nvSpPr>
        <p:spPr>
          <a:xfrm>
            <a:off x="77724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DFA54B"/>
                </a:solidFill>
                <a:effectLst/>
                <a:uFillTx/>
                <a:latin typeface="DejaVu Sans"/>
              </a:rPr>
              <a:t>01</a:t>
            </a:r>
            <a:endParaRPr lang="en-US" sz="1200" b="0" u="none" strike="noStrike">
              <a:solidFill>
                <a:srgbClr val="FFFFFF"/>
              </a:solidFill>
              <a:effectLst/>
              <a:uFillTx/>
              <a:latin typeface="Arial"/>
            </a:endParaRPr>
          </a:p>
        </p:txBody>
      </p:sp>
      <p:sp>
        <p:nvSpPr>
          <p:cNvPr id="74" name="TextBox 8"/>
          <p:cNvSpPr/>
          <p:nvPr/>
        </p:nvSpPr>
        <p:spPr>
          <a:xfrm>
            <a:off x="77724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FFFFFF"/>
                </a:solidFill>
                <a:effectLst/>
                <a:uFillTx/>
                <a:latin typeface="DejaVu Sans"/>
              </a:rPr>
              <a:t>GIAI CẤP</a:t>
            </a:r>
            <a:endParaRPr lang="en-US" sz="1700" b="0" u="none" strike="noStrike">
              <a:solidFill>
                <a:srgbClr val="FFFFFF"/>
              </a:solidFill>
              <a:effectLst/>
              <a:uFillTx/>
              <a:latin typeface="Arial"/>
            </a:endParaRPr>
          </a:p>
        </p:txBody>
      </p:sp>
      <p:sp>
        <p:nvSpPr>
          <p:cNvPr id="75" name="TextBox 9"/>
          <p:cNvSpPr/>
          <p:nvPr/>
        </p:nvSpPr>
        <p:spPr>
          <a:xfrm>
            <a:off x="77724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E4EBED"/>
                </a:solidFill>
                <a:effectLst/>
                <a:uFillTx/>
                <a:latin typeface="DejaVu Sans"/>
              </a:rPr>
              <a:t>Vị trí trong sản xuất</a:t>
            </a:r>
            <a:endParaRPr lang="en-US" sz="1700" b="0" u="none" strike="noStrike">
              <a:solidFill>
                <a:srgbClr val="FFFFFF"/>
              </a:solidFill>
              <a:effectLst/>
              <a:uFillTx/>
              <a:latin typeface="Arial"/>
            </a:endParaRPr>
          </a:p>
        </p:txBody>
      </p:sp>
      <p:sp>
        <p:nvSpPr>
          <p:cNvPr id="76" name="Rounded Rectangle 10"/>
          <p:cNvSpPr/>
          <p:nvPr/>
        </p:nvSpPr>
        <p:spPr>
          <a:xfrm>
            <a:off x="4340520" y="2697480"/>
            <a:ext cx="3526200" cy="290736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7" name="Rectangle 11"/>
          <p:cNvSpPr/>
          <p:nvPr/>
        </p:nvSpPr>
        <p:spPr>
          <a:xfrm>
            <a:off x="4340520" y="2697480"/>
            <a:ext cx="50040" cy="290736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8" name="TextBox 12"/>
          <p:cNvSpPr/>
          <p:nvPr/>
        </p:nvSpPr>
        <p:spPr>
          <a:xfrm>
            <a:off x="45234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DFA54B"/>
                </a:solidFill>
                <a:effectLst/>
                <a:uFillTx/>
                <a:latin typeface="DejaVu Sans"/>
              </a:rPr>
              <a:t>02</a:t>
            </a:r>
            <a:endParaRPr lang="en-US" sz="1200" b="0" u="none" strike="noStrike">
              <a:solidFill>
                <a:srgbClr val="FFFFFF"/>
              </a:solidFill>
              <a:effectLst/>
              <a:uFillTx/>
              <a:latin typeface="Arial"/>
            </a:endParaRPr>
          </a:p>
        </p:txBody>
      </p:sp>
      <p:sp>
        <p:nvSpPr>
          <p:cNvPr id="79" name="TextBox 13"/>
          <p:cNvSpPr/>
          <p:nvPr/>
        </p:nvSpPr>
        <p:spPr>
          <a:xfrm>
            <a:off x="45234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FFFFFF"/>
                </a:solidFill>
                <a:effectLst/>
                <a:uFillTx/>
                <a:latin typeface="DejaVu Sans"/>
              </a:rPr>
              <a:t>DÂN TỘC</a:t>
            </a:r>
            <a:endParaRPr lang="en-US" sz="1700" b="0" u="none" strike="noStrike">
              <a:solidFill>
                <a:srgbClr val="FFFFFF"/>
              </a:solidFill>
              <a:effectLst/>
              <a:uFillTx/>
              <a:latin typeface="Arial"/>
            </a:endParaRPr>
          </a:p>
        </p:txBody>
      </p:sp>
      <p:sp>
        <p:nvSpPr>
          <p:cNvPr id="80" name="TextBox 14"/>
          <p:cNvSpPr/>
          <p:nvPr/>
        </p:nvSpPr>
        <p:spPr>
          <a:xfrm>
            <a:off x="45234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E4EBED"/>
                </a:solidFill>
                <a:effectLst/>
                <a:uFillTx/>
                <a:latin typeface="DejaVu Sans"/>
              </a:rPr>
              <a:t>Cộng đồng trong lịch sử</a:t>
            </a:r>
            <a:endParaRPr lang="en-US" sz="1700" b="0" u="none" strike="noStrike">
              <a:solidFill>
                <a:srgbClr val="FFFFFF"/>
              </a:solidFill>
              <a:effectLst/>
              <a:uFillTx/>
              <a:latin typeface="Arial"/>
            </a:endParaRPr>
          </a:p>
        </p:txBody>
      </p:sp>
      <p:sp>
        <p:nvSpPr>
          <p:cNvPr id="81" name="Rounded Rectangle 15"/>
          <p:cNvSpPr/>
          <p:nvPr/>
        </p:nvSpPr>
        <p:spPr>
          <a:xfrm>
            <a:off x="8086320" y="2697480"/>
            <a:ext cx="3526200" cy="290736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2" name="Rectangle 16"/>
          <p:cNvSpPr/>
          <p:nvPr/>
        </p:nvSpPr>
        <p:spPr>
          <a:xfrm>
            <a:off x="8086320" y="2697480"/>
            <a:ext cx="50040" cy="290736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3" name="TextBox 17"/>
          <p:cNvSpPr/>
          <p:nvPr/>
        </p:nvSpPr>
        <p:spPr>
          <a:xfrm>
            <a:off x="82692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DFA54B"/>
                </a:solidFill>
                <a:effectLst/>
                <a:uFillTx/>
                <a:latin typeface="DejaVu Sans"/>
              </a:rPr>
              <a:t>03</a:t>
            </a:r>
            <a:endParaRPr lang="en-US" sz="1200" b="0" u="none" strike="noStrike">
              <a:solidFill>
                <a:srgbClr val="FFFFFF"/>
              </a:solidFill>
              <a:effectLst/>
              <a:uFillTx/>
              <a:latin typeface="Arial"/>
            </a:endParaRPr>
          </a:p>
        </p:txBody>
      </p:sp>
      <p:sp>
        <p:nvSpPr>
          <p:cNvPr id="84" name="TextBox 18"/>
          <p:cNvSpPr/>
          <p:nvPr/>
        </p:nvSpPr>
        <p:spPr>
          <a:xfrm>
            <a:off x="82692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FFFFFF"/>
                </a:solidFill>
                <a:effectLst/>
                <a:uFillTx/>
                <a:latin typeface="DejaVu Sans"/>
              </a:rPr>
              <a:t>NHÂN LOẠI</a:t>
            </a:r>
            <a:endParaRPr lang="en-US" sz="1700" b="0" u="none" strike="noStrike">
              <a:solidFill>
                <a:srgbClr val="FFFFFF"/>
              </a:solidFill>
              <a:effectLst/>
              <a:uFillTx/>
              <a:latin typeface="Arial"/>
            </a:endParaRPr>
          </a:p>
        </p:txBody>
      </p:sp>
      <p:sp>
        <p:nvSpPr>
          <p:cNvPr id="85" name="TextBox 19"/>
          <p:cNvSpPr/>
          <p:nvPr/>
        </p:nvSpPr>
        <p:spPr>
          <a:xfrm>
            <a:off x="82692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E4EBED"/>
                </a:solidFill>
                <a:effectLst/>
                <a:uFillTx/>
                <a:latin typeface="DejaVu Sans"/>
              </a:rPr>
              <a:t>Không gian lợi ích chung</a:t>
            </a:r>
            <a:endParaRPr lang="en-US" sz="1700" b="0" u="none" strike="noStrike">
              <a:solidFill>
                <a:srgbClr val="FFFFFF"/>
              </a:solidFill>
              <a:effectLst/>
              <a:uFillTx/>
              <a:latin typeface="Arial"/>
            </a:endParaRPr>
          </a:p>
        </p:txBody>
      </p:sp>
      <p:sp>
        <p:nvSpPr>
          <p:cNvPr id="86" name="Rounded Rectangle 20"/>
          <p:cNvSpPr/>
          <p:nvPr/>
        </p:nvSpPr>
        <p:spPr>
          <a:xfrm>
            <a:off x="594360" y="5852160"/>
            <a:ext cx="11009160" cy="49356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7"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FFFFFF"/>
                </a:solidFill>
                <a:effectLst/>
                <a:uFillTx/>
                <a:latin typeface="DejaVu Sans"/>
              </a:rPr>
              <a:t>Câu hỏi xuyên suốt: Ba phạm trù này gắn bó với nhau như thế nào?</a:t>
            </a:r>
            <a:endParaRPr lang="en-US" sz="1200" b="0" u="none" strike="noStrike">
              <a:solidFill>
                <a:srgbClr val="FFFFFF"/>
              </a:solidFill>
              <a:effectLst/>
              <a:uFillTx/>
              <a:latin typeface="Arial"/>
            </a:endParaRPr>
          </a:p>
        </p:txBody>
      </p:sp>
      <p:sp>
        <p:nvSpPr>
          <p:cNvPr id="88"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B8CED3"/>
                </a:solidFill>
                <a:effectLst/>
                <a:uFillTx/>
                <a:latin typeface="DejaVu Sans"/>
              </a:rPr>
              <a:t>NGUỒN: triet.docx  •  Diễn đạt, sơ đồ: nhóm biên tập</a:t>
            </a:r>
            <a:endParaRPr lang="en-US" sz="900" b="0" u="none" strike="noStrike">
              <a:solidFill>
                <a:srgbClr val="FFFFFF"/>
              </a:solidFill>
              <a:effectLst/>
              <a:uFillTx/>
              <a:latin typeface="Arial"/>
            </a:endParaRPr>
          </a:p>
        </p:txBody>
      </p:sp>
      <p:sp>
        <p:nvSpPr>
          <p:cNvPr id="89"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DFA54B"/>
                </a:solidFill>
                <a:effectLst/>
                <a:uFillTx/>
                <a:latin typeface="DejaVu Sans"/>
              </a:rPr>
              <a:t>01 / 25</a:t>
            </a:r>
            <a:endParaRPr lang="en-US" sz="1000" b="0" u="none" strike="noStrike">
              <a:solidFill>
                <a:srgbClr val="FFFFFF"/>
              </a:solidFill>
              <a:effectLst/>
              <a:uFillTx/>
              <a:latin typeface="Arial"/>
            </a:endParaRPr>
          </a:p>
        </p:txBody>
      </p:sp>
    </p:spTree>
  </p:cSld>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90"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91"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92"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Hai người • Một mạch trình bày</a:t>
            </a:r>
            <a:endParaRPr lang="en-US" sz="2800" b="0" u="none" strike="noStrike">
              <a:solidFill>
                <a:srgbClr val="000000"/>
              </a:solidFill>
              <a:effectLst/>
              <a:uFillTx/>
              <a:latin typeface="Arial"/>
            </a:endParaRPr>
          </a:p>
        </p:txBody>
      </p:sp>
      <p:sp>
        <p:nvSpPr>
          <p:cNvPr id="93"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Phân công theo đúng trình tự nội dung tài liệu</a:t>
            </a:r>
            <a:endParaRPr lang="en-US" sz="1500" b="0" u="none" strike="noStrike">
              <a:solidFill>
                <a:srgbClr val="000000"/>
              </a:solidFill>
              <a:effectLst/>
              <a:uFillTx/>
              <a:latin typeface="Arial"/>
            </a:endParaRPr>
          </a:p>
        </p:txBody>
      </p:sp>
      <p:sp>
        <p:nvSpPr>
          <p:cNvPr id="94" name="Rounded Rectangle 5"/>
          <p:cNvSpPr/>
          <p:nvPr/>
        </p:nvSpPr>
        <p:spPr>
          <a:xfrm>
            <a:off x="594360" y="2697480"/>
            <a:ext cx="539928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5"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6" name="TextBox 7"/>
          <p:cNvSpPr/>
          <p:nvPr/>
        </p:nvSpPr>
        <p:spPr>
          <a:xfrm>
            <a:off x="777240" y="2843640"/>
            <a:ext cx="503352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97" name="TextBox 8"/>
          <p:cNvSpPr/>
          <p:nvPr/>
        </p:nvSpPr>
        <p:spPr>
          <a:xfrm>
            <a:off x="777240" y="3136320"/>
            <a:ext cx="503352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NGƯỜI TRÌNH BÀY 1</a:t>
            </a:r>
            <a:endParaRPr lang="en-US" sz="1700" b="0" u="none" strike="noStrike">
              <a:solidFill>
                <a:srgbClr val="000000"/>
              </a:solidFill>
              <a:effectLst/>
              <a:uFillTx/>
              <a:latin typeface="Arial"/>
            </a:endParaRPr>
          </a:p>
        </p:txBody>
      </p:sp>
      <p:sp>
        <p:nvSpPr>
          <p:cNvPr id="98" name="TextBox 9"/>
          <p:cNvSpPr/>
          <p:nvPr/>
        </p:nvSpPr>
        <p:spPr>
          <a:xfrm>
            <a:off x="777240" y="3758040"/>
            <a:ext cx="503352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Slide 1–14</a:t>
            </a:r>
            <a:endParaRPr lang="en-US" sz="1700" b="0" u="none" strike="noStrike">
              <a:solidFill>
                <a:srgbClr val="000000"/>
              </a:solidFill>
              <a:effectLst/>
              <a:uFillTx/>
              <a:latin typeface="Arial"/>
            </a:endParaRPr>
          </a:p>
          <a:p>
            <a:pPr defTabSz="457200">
              <a:lnSpc>
                <a:spcPct val="100000"/>
              </a:lnSpc>
              <a:spcAft>
                <a:spcPts val="300"/>
              </a:spcAft>
            </a:pPr>
            <a:r>
              <a:rPr lang="en-US" sz="1700" b="0" u="none" strike="noStrike">
                <a:solidFill>
                  <a:srgbClr val="536B75"/>
                </a:solidFill>
                <a:effectLst/>
                <a:uFillTx/>
                <a:latin typeface="DejaVu Sans"/>
              </a:rPr>
              <a:t>Giai cấp; đấu tranh giai cấp; cộng đồng người và dân tộc.</a:t>
            </a:r>
            <a:endParaRPr lang="en-US" sz="1700" b="0" u="none" strike="noStrike">
              <a:solidFill>
                <a:srgbClr val="000000"/>
              </a:solidFill>
              <a:effectLst/>
              <a:uFillTx/>
              <a:latin typeface="Arial"/>
            </a:endParaRPr>
          </a:p>
        </p:txBody>
      </p:sp>
      <p:sp>
        <p:nvSpPr>
          <p:cNvPr id="99" name="Rounded Rectangle 10"/>
          <p:cNvSpPr/>
          <p:nvPr/>
        </p:nvSpPr>
        <p:spPr>
          <a:xfrm>
            <a:off x="6213240" y="2697480"/>
            <a:ext cx="539928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0" name="Rectangle 11"/>
          <p:cNvSpPr/>
          <p:nvPr/>
        </p:nvSpPr>
        <p:spPr>
          <a:xfrm>
            <a:off x="621324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1" name="TextBox 12"/>
          <p:cNvSpPr/>
          <p:nvPr/>
        </p:nvSpPr>
        <p:spPr>
          <a:xfrm>
            <a:off x="6396120" y="2843640"/>
            <a:ext cx="503352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102" name="TextBox 13"/>
          <p:cNvSpPr/>
          <p:nvPr/>
        </p:nvSpPr>
        <p:spPr>
          <a:xfrm>
            <a:off x="6396120" y="3136320"/>
            <a:ext cx="503352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NGƯỜI TRÌNH BÀY 2</a:t>
            </a:r>
            <a:endParaRPr lang="en-US" sz="1700" b="0" u="none" strike="noStrike">
              <a:solidFill>
                <a:srgbClr val="000000"/>
              </a:solidFill>
              <a:effectLst/>
              <a:uFillTx/>
              <a:latin typeface="Arial"/>
            </a:endParaRPr>
          </a:p>
        </p:txBody>
      </p:sp>
      <p:sp>
        <p:nvSpPr>
          <p:cNvPr id="103" name="TextBox 14"/>
          <p:cNvSpPr/>
          <p:nvPr/>
        </p:nvSpPr>
        <p:spPr>
          <a:xfrm>
            <a:off x="6396120" y="3758040"/>
            <a:ext cx="503352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Slide 15–25</a:t>
            </a:r>
            <a:endParaRPr lang="en-US" sz="1700" b="0" u="none" strike="noStrike">
              <a:solidFill>
                <a:srgbClr val="000000"/>
              </a:solidFill>
              <a:effectLst/>
              <a:uFillTx/>
              <a:latin typeface="Arial"/>
            </a:endParaRPr>
          </a:p>
          <a:p>
            <a:pPr defTabSz="457200">
              <a:lnSpc>
                <a:spcPct val="100000"/>
              </a:lnSpc>
              <a:spcAft>
                <a:spcPts val="300"/>
              </a:spcAft>
            </a:pPr>
            <a:r>
              <a:rPr lang="en-US" sz="1700" b="0" u="none" strike="noStrike">
                <a:solidFill>
                  <a:srgbClr val="536B75"/>
                </a:solidFill>
                <a:effectLst/>
                <a:uFillTx/>
                <a:latin typeface="DejaVu Sans"/>
              </a:rPr>
              <a:t>Đấu tranh của giai cấp vô sản; các mối quan hệ; liên hệ và kết luận.</a:t>
            </a:r>
            <a:endParaRPr lang="en-US" sz="1700" b="0" u="none" strike="noStrike">
              <a:solidFill>
                <a:srgbClr val="000000"/>
              </a:solidFill>
              <a:effectLst/>
              <a:uFillTx/>
              <a:latin typeface="Arial"/>
            </a:endParaRPr>
          </a:p>
        </p:txBody>
      </p:sp>
      <p:sp>
        <p:nvSpPr>
          <p:cNvPr id="104" name="Rounded Rectangle 15"/>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5" name="TextBox 16"/>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Thời lượng mục tiêu: 18 phút • Thay nhãn bằng họ tên trước khi trình bày.</a:t>
            </a:r>
            <a:endParaRPr lang="en-US" sz="1200" b="0" u="none" strike="noStrike">
              <a:solidFill>
                <a:srgbClr val="000000"/>
              </a:solidFill>
              <a:effectLst/>
              <a:uFillTx/>
              <a:latin typeface="Arial"/>
            </a:endParaRPr>
          </a:p>
        </p:txBody>
      </p:sp>
      <p:sp>
        <p:nvSpPr>
          <p:cNvPr id="106" name="TextBox 17"/>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107" name="TextBox 18"/>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02 / 25</a:t>
            </a:r>
            <a:endParaRPr lang="en-US" sz="1000" b="0" u="none" strike="noStrike">
              <a:solidFill>
                <a:srgbClr val="000000"/>
              </a:solidFill>
              <a:effectLst/>
              <a:uFillTx/>
              <a:latin typeface="Arial"/>
            </a:endParaRPr>
          </a:p>
        </p:txBody>
      </p:sp>
    </p:spTree>
  </p:cSld>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108"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109"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110"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Ba mục tiêu cần đạt</a:t>
            </a:r>
            <a:endParaRPr lang="en-US" sz="2800" b="0" u="none" strike="noStrike">
              <a:solidFill>
                <a:srgbClr val="000000"/>
              </a:solidFill>
              <a:effectLst/>
              <a:uFillTx/>
              <a:latin typeface="Arial"/>
            </a:endParaRPr>
          </a:p>
        </p:txBody>
      </p:sp>
      <p:sp>
        <p:nvSpPr>
          <p:cNvPr id="111"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Hiểu khái niệm → nhận diện quá trình → giải thích quan hệ</a:t>
            </a:r>
            <a:endParaRPr lang="en-US" sz="1500" b="0" u="none" strike="noStrike">
              <a:solidFill>
                <a:srgbClr val="000000"/>
              </a:solidFill>
              <a:effectLst/>
              <a:uFillTx/>
              <a:latin typeface="Arial"/>
            </a:endParaRPr>
          </a:p>
        </p:txBody>
      </p:sp>
      <p:sp>
        <p:nvSpPr>
          <p:cNvPr id="112" name="Rounded Rectangle 5"/>
          <p:cNvSpPr/>
          <p:nvPr/>
        </p:nvSpPr>
        <p:spPr>
          <a:xfrm>
            <a:off x="59436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13"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14" name="TextBox 7"/>
          <p:cNvSpPr/>
          <p:nvPr/>
        </p:nvSpPr>
        <p:spPr>
          <a:xfrm>
            <a:off x="77724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115" name="TextBox 8"/>
          <p:cNvSpPr/>
          <p:nvPr/>
        </p:nvSpPr>
        <p:spPr>
          <a:xfrm>
            <a:off x="77724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01 • PHÂN BIỆT</a:t>
            </a:r>
            <a:endParaRPr lang="en-US" sz="1700" b="0" u="none" strike="noStrike">
              <a:solidFill>
                <a:srgbClr val="000000"/>
              </a:solidFill>
              <a:effectLst/>
              <a:uFillTx/>
              <a:latin typeface="Arial"/>
            </a:endParaRPr>
          </a:p>
        </p:txBody>
      </p:sp>
      <p:sp>
        <p:nvSpPr>
          <p:cNvPr id="116" name="TextBox 9"/>
          <p:cNvSpPr/>
          <p:nvPr/>
        </p:nvSpPr>
        <p:spPr>
          <a:xfrm>
            <a:off x="77724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Giai cấp, dân tộc theo hai nghĩa và nhân loại.</a:t>
            </a:r>
            <a:endParaRPr lang="en-US" sz="1700" b="0" u="none" strike="noStrike">
              <a:solidFill>
                <a:srgbClr val="000000"/>
              </a:solidFill>
              <a:effectLst/>
              <a:uFillTx/>
              <a:latin typeface="Arial"/>
            </a:endParaRPr>
          </a:p>
        </p:txBody>
      </p:sp>
      <p:sp>
        <p:nvSpPr>
          <p:cNvPr id="117" name="Rounded Rectangle 10"/>
          <p:cNvSpPr/>
          <p:nvPr/>
        </p:nvSpPr>
        <p:spPr>
          <a:xfrm>
            <a:off x="43405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18" name="Rectangle 11"/>
          <p:cNvSpPr/>
          <p:nvPr/>
        </p:nvSpPr>
        <p:spPr>
          <a:xfrm>
            <a:off x="43405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19" name="TextBox 12"/>
          <p:cNvSpPr/>
          <p:nvPr/>
        </p:nvSpPr>
        <p:spPr>
          <a:xfrm>
            <a:off x="45234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120" name="TextBox 13"/>
          <p:cNvSpPr/>
          <p:nvPr/>
        </p:nvSpPr>
        <p:spPr>
          <a:xfrm>
            <a:off x="45234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02 • GIẢI THÍCH</a:t>
            </a:r>
            <a:endParaRPr lang="en-US" sz="1700" b="0" u="none" strike="noStrike">
              <a:solidFill>
                <a:srgbClr val="000000"/>
              </a:solidFill>
              <a:effectLst/>
              <a:uFillTx/>
              <a:latin typeface="Arial"/>
            </a:endParaRPr>
          </a:p>
        </p:txBody>
      </p:sp>
      <p:sp>
        <p:nvSpPr>
          <p:cNvPr id="121" name="TextBox 14"/>
          <p:cNvSpPr/>
          <p:nvPr/>
        </p:nvSpPr>
        <p:spPr>
          <a:xfrm>
            <a:off x="45234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Nguồn gốc giai cấp; các cộng đồng người; hình thức đấu tranh.</a:t>
            </a:r>
            <a:endParaRPr lang="en-US" sz="1700" b="0" u="none" strike="noStrike">
              <a:solidFill>
                <a:srgbClr val="000000"/>
              </a:solidFill>
              <a:effectLst/>
              <a:uFillTx/>
              <a:latin typeface="Arial"/>
            </a:endParaRPr>
          </a:p>
        </p:txBody>
      </p:sp>
      <p:sp>
        <p:nvSpPr>
          <p:cNvPr id="122" name="Rounded Rectangle 15"/>
          <p:cNvSpPr/>
          <p:nvPr/>
        </p:nvSpPr>
        <p:spPr>
          <a:xfrm>
            <a:off x="80863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23" name="Rectangle 16"/>
          <p:cNvSpPr/>
          <p:nvPr/>
        </p:nvSpPr>
        <p:spPr>
          <a:xfrm>
            <a:off x="80863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24" name="TextBox 17"/>
          <p:cNvSpPr/>
          <p:nvPr/>
        </p:nvSpPr>
        <p:spPr>
          <a:xfrm>
            <a:off x="82692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125" name="TextBox 18"/>
          <p:cNvSpPr/>
          <p:nvPr/>
        </p:nvSpPr>
        <p:spPr>
          <a:xfrm>
            <a:off x="82692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03 • VẬN DỤNG</a:t>
            </a:r>
            <a:endParaRPr lang="en-US" sz="1700" b="0" u="none" strike="noStrike">
              <a:solidFill>
                <a:srgbClr val="000000"/>
              </a:solidFill>
              <a:effectLst/>
              <a:uFillTx/>
              <a:latin typeface="Arial"/>
            </a:endParaRPr>
          </a:p>
        </p:txBody>
      </p:sp>
      <p:sp>
        <p:nvSpPr>
          <p:cNvPr id="126" name="TextBox 19"/>
          <p:cNvSpPr/>
          <p:nvPr/>
        </p:nvSpPr>
        <p:spPr>
          <a:xfrm>
            <a:off x="82692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Đọc một tình huống qua lợi ích giai cấp, dân tộc và lợi ích chung.</a:t>
            </a:r>
            <a:endParaRPr lang="en-US" sz="1700" b="0" u="none" strike="noStrike">
              <a:solidFill>
                <a:srgbClr val="000000"/>
              </a:solidFill>
              <a:effectLst/>
              <a:uFillTx/>
              <a:latin typeface="Arial"/>
            </a:endParaRPr>
          </a:p>
        </p:txBody>
      </p:sp>
      <p:sp>
        <p:nvSpPr>
          <p:cNvPr id="127" name="Rounded Rectangle 20"/>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28"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Không đồng nhất chênh lệch thu nhập với toàn bộ khái niệm giai cấp.</a:t>
            </a:r>
            <a:endParaRPr lang="en-US" sz="1200" b="0" u="none" strike="noStrike">
              <a:solidFill>
                <a:srgbClr val="000000"/>
              </a:solidFill>
              <a:effectLst/>
              <a:uFillTx/>
              <a:latin typeface="Arial"/>
            </a:endParaRPr>
          </a:p>
        </p:txBody>
      </p:sp>
      <p:sp>
        <p:nvSpPr>
          <p:cNvPr id="129"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130"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03 / 25</a:t>
            </a:r>
            <a:endParaRPr lang="en-US" sz="1000" b="0" u="none" strike="noStrike">
              <a:solidFill>
                <a:srgbClr val="000000"/>
              </a:solidFill>
              <a:effectLst/>
              <a:uFillTx/>
              <a:latin typeface="Arial"/>
            </a:endParaRPr>
          </a:p>
        </p:txBody>
      </p:sp>
    </p:spTree>
  </p:cSld>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C3A"/>
        </a:solidFill>
      </p:bgPr>
    </p:bg>
    <p:spTree>
      <p:nvGrpSpPr>
        <p:cNvPr id="1" name=""/>
        <p:cNvGrpSpPr/>
        <p:nvPr/>
      </p:nvGrpSpPr>
      <p:grpSpPr>
        <a:xfrm>
          <a:off x="0" y="0"/>
          <a:ext cx="0" cy="0"/>
          <a:chOff x="0" y="0"/>
          <a:chExt cx="0" cy="0"/>
        </a:xfrm>
      </p:grpSpPr>
      <p:sp>
        <p:nvSpPr>
          <p:cNvPr id="131"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132"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B8CED3"/>
                </a:solidFill>
                <a:effectLst/>
                <a:uFillTx/>
                <a:latin typeface="DejaVu Sans"/>
              </a:rPr>
              <a:t>TRIẾT HỌC MÁC – LÊNIN  /  GIAI CẤP • DÂN TỘC • NHÂN LOẠI</a:t>
            </a:r>
            <a:endParaRPr lang="en-US" sz="1000" b="0" u="none" strike="noStrike">
              <a:solidFill>
                <a:srgbClr val="FFFFFF"/>
              </a:solidFill>
              <a:effectLst/>
              <a:uFillTx/>
              <a:latin typeface="Arial"/>
            </a:endParaRPr>
          </a:p>
        </p:txBody>
      </p:sp>
      <p:sp>
        <p:nvSpPr>
          <p:cNvPr id="133"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FFFFFF"/>
                </a:solidFill>
                <a:effectLst/>
                <a:uFillTx/>
                <a:latin typeface="DejaVu Sans"/>
              </a:rPr>
              <a:t>Bản đồ toàn bộ chủ đề</a:t>
            </a:r>
            <a:endParaRPr lang="en-US" sz="2800" b="0" u="none" strike="noStrike">
              <a:solidFill>
                <a:srgbClr val="FFFFFF"/>
              </a:solidFill>
              <a:effectLst/>
              <a:uFillTx/>
              <a:latin typeface="Arial"/>
            </a:endParaRPr>
          </a:p>
        </p:txBody>
      </p:sp>
      <p:sp>
        <p:nvSpPr>
          <p:cNvPr id="134"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B8CED3"/>
                </a:solidFill>
                <a:effectLst/>
                <a:uFillTx/>
                <a:latin typeface="DejaVu Sans"/>
              </a:rPr>
              <a:t>Đọc từ trái sang phải theo mạch của tài liệu</a:t>
            </a:r>
            <a:endParaRPr lang="en-US" sz="1500" b="0" u="none" strike="noStrike">
              <a:solidFill>
                <a:srgbClr val="FFFFFF"/>
              </a:solidFill>
              <a:effectLst/>
              <a:uFillTx/>
              <a:latin typeface="Arial"/>
            </a:endParaRPr>
          </a:p>
        </p:txBody>
      </p:sp>
      <p:sp>
        <p:nvSpPr>
          <p:cNvPr id="135" name="Rounded Rectangle 5"/>
          <p:cNvSpPr/>
          <p:nvPr/>
        </p:nvSpPr>
        <p:spPr>
          <a:xfrm>
            <a:off x="594360" y="3429000"/>
            <a:ext cx="1919880" cy="1051200"/>
          </a:xfrm>
          <a:prstGeom prst="roundRect">
            <a:avLst>
              <a:gd name="adj" fmla="val 16667"/>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36" name="TextBox 6"/>
          <p:cNvSpPr/>
          <p:nvPr/>
        </p:nvSpPr>
        <p:spPr>
          <a:xfrm>
            <a:off x="777240" y="3620880"/>
            <a:ext cx="1599840" cy="7311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800" b="1" u="none" strike="noStrike">
                <a:solidFill>
                  <a:srgbClr val="FFFFFF"/>
                </a:solidFill>
                <a:effectLst/>
                <a:uFillTx/>
                <a:latin typeface="DejaVu Sans"/>
              </a:rPr>
              <a:t>XÃ HỘI</a:t>
            </a:r>
            <a:endParaRPr lang="en-US" sz="1800" b="0" u="none" strike="noStrike">
              <a:solidFill>
                <a:srgbClr val="FFFFFF"/>
              </a:solidFill>
              <a:effectLst/>
              <a:uFillTx/>
              <a:latin typeface="Arial"/>
            </a:endParaRPr>
          </a:p>
          <a:p>
            <a:pPr defTabSz="457200">
              <a:lnSpc>
                <a:spcPct val="100000"/>
              </a:lnSpc>
              <a:spcAft>
                <a:spcPts val="700"/>
              </a:spcAft>
            </a:pPr>
            <a:r>
              <a:rPr lang="en-US" sz="1800" b="1" u="none" strike="noStrike">
                <a:solidFill>
                  <a:srgbClr val="FFFFFF"/>
                </a:solidFill>
                <a:effectLst/>
                <a:uFillTx/>
                <a:latin typeface="DejaVu Sans"/>
              </a:rPr>
              <a:t>&amp; CON NGƯỜI</a:t>
            </a:r>
            <a:endParaRPr lang="en-US" sz="1800" b="0" u="none" strike="noStrike">
              <a:solidFill>
                <a:srgbClr val="FFFFFF"/>
              </a:solidFill>
              <a:effectLst/>
              <a:uFillTx/>
              <a:latin typeface="Arial"/>
            </a:endParaRPr>
          </a:p>
        </p:txBody>
      </p:sp>
      <p:cxnSp>
        <p:nvCxnSpPr>
          <p:cNvPr id="137" name="Connector 7"/>
          <p:cNvCxnSpPr/>
          <p:nvPr/>
        </p:nvCxnSpPr>
        <p:spPr>
          <a:xfrm flipV="1">
            <a:off x="2514600" y="3200400"/>
            <a:ext cx="549000" cy="731880"/>
          </a:xfrm>
          <a:prstGeom prst="straightConnector1">
            <a:avLst/>
          </a:prstGeom>
          <a:ln>
            <a:solidFill>
              <a:srgbClr val="427782"/>
            </a:solidFill>
            <a:round/>
          </a:ln>
        </p:spPr>
      </p:cxnSp>
      <p:sp>
        <p:nvSpPr>
          <p:cNvPr id="138" name="Rounded Rectangle 8"/>
          <p:cNvSpPr/>
          <p:nvPr/>
        </p:nvSpPr>
        <p:spPr>
          <a:xfrm>
            <a:off x="3063240" y="2697480"/>
            <a:ext cx="3885840" cy="100548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39" name="TextBox 9"/>
          <p:cNvSpPr/>
          <p:nvPr/>
        </p:nvSpPr>
        <p:spPr>
          <a:xfrm>
            <a:off x="3173040" y="2761560"/>
            <a:ext cx="3666240" cy="2923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400" b="1" u="none" strike="noStrike">
                <a:solidFill>
                  <a:srgbClr val="DFA54B"/>
                </a:solidFill>
                <a:effectLst/>
                <a:uFillTx/>
                <a:latin typeface="DejaVu Sans"/>
              </a:rPr>
              <a:t>1 • GIAI CẤP</a:t>
            </a:r>
            <a:endParaRPr lang="en-US" sz="1400" b="0" u="none" strike="noStrike">
              <a:solidFill>
                <a:srgbClr val="FFFFFF"/>
              </a:solidFill>
              <a:effectLst/>
              <a:uFillTx/>
              <a:latin typeface="Arial"/>
            </a:endParaRPr>
          </a:p>
        </p:txBody>
      </p:sp>
      <p:sp>
        <p:nvSpPr>
          <p:cNvPr id="140" name="TextBox 10"/>
          <p:cNvSpPr/>
          <p:nvPr/>
        </p:nvSpPr>
        <p:spPr>
          <a:xfrm>
            <a:off x="3173040" y="3090600"/>
            <a:ext cx="3666240" cy="6123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FFFFFF"/>
                </a:solidFill>
                <a:effectLst/>
                <a:uFillTx/>
                <a:latin typeface="DejaVu Sans"/>
              </a:rPr>
              <a:t>Khái niệm → nguồn gốc</a:t>
            </a:r>
            <a:endParaRPr lang="en-US" sz="1200" b="0" u="none" strike="noStrike">
              <a:solidFill>
                <a:srgbClr val="FFFFFF"/>
              </a:solidFill>
              <a:effectLst/>
              <a:uFillTx/>
              <a:latin typeface="Arial"/>
            </a:endParaRPr>
          </a:p>
          <a:p>
            <a:pPr defTabSz="457200">
              <a:lnSpc>
                <a:spcPct val="100000"/>
              </a:lnSpc>
              <a:spcAft>
                <a:spcPts val="700"/>
              </a:spcAft>
            </a:pPr>
            <a:r>
              <a:rPr lang="en-US" sz="1200" b="0" u="none" strike="noStrike">
                <a:solidFill>
                  <a:srgbClr val="FFFFFF"/>
                </a:solidFill>
                <a:effectLst/>
                <a:uFillTx/>
                <a:latin typeface="DejaVu Sans"/>
              </a:rPr>
              <a:t>Kết cấu → đấu tranh</a:t>
            </a:r>
            <a:endParaRPr lang="en-US" sz="1200" b="0" u="none" strike="noStrike">
              <a:solidFill>
                <a:srgbClr val="FFFFFF"/>
              </a:solidFill>
              <a:effectLst/>
              <a:uFillTx/>
              <a:latin typeface="Arial"/>
            </a:endParaRPr>
          </a:p>
        </p:txBody>
      </p:sp>
      <p:cxnSp>
        <p:nvCxnSpPr>
          <p:cNvPr id="141" name="Connector 11"/>
          <p:cNvCxnSpPr/>
          <p:nvPr/>
        </p:nvCxnSpPr>
        <p:spPr>
          <a:xfrm flipV="1">
            <a:off x="2514600" y="3200400"/>
            <a:ext cx="4709520" cy="731880"/>
          </a:xfrm>
          <a:prstGeom prst="straightConnector1">
            <a:avLst/>
          </a:prstGeom>
          <a:ln>
            <a:solidFill>
              <a:srgbClr val="427782"/>
            </a:solidFill>
            <a:round/>
          </a:ln>
        </p:spPr>
      </p:cxnSp>
      <p:sp>
        <p:nvSpPr>
          <p:cNvPr id="142" name="Rounded Rectangle 12"/>
          <p:cNvSpPr/>
          <p:nvPr/>
        </p:nvSpPr>
        <p:spPr>
          <a:xfrm>
            <a:off x="7223760" y="2697480"/>
            <a:ext cx="3885840" cy="100548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43" name="TextBox 13"/>
          <p:cNvSpPr/>
          <p:nvPr/>
        </p:nvSpPr>
        <p:spPr>
          <a:xfrm>
            <a:off x="7333560" y="2761560"/>
            <a:ext cx="3666240" cy="2923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400" b="1" u="none" strike="noStrike">
                <a:solidFill>
                  <a:srgbClr val="DFA54B"/>
                </a:solidFill>
                <a:effectLst/>
                <a:uFillTx/>
                <a:latin typeface="DejaVu Sans"/>
              </a:rPr>
              <a:t>2 • DÂN TỘC</a:t>
            </a:r>
            <a:endParaRPr lang="en-US" sz="1400" b="0" u="none" strike="noStrike">
              <a:solidFill>
                <a:srgbClr val="FFFFFF"/>
              </a:solidFill>
              <a:effectLst/>
              <a:uFillTx/>
              <a:latin typeface="Arial"/>
            </a:endParaRPr>
          </a:p>
        </p:txBody>
      </p:sp>
      <p:sp>
        <p:nvSpPr>
          <p:cNvPr id="144" name="TextBox 14"/>
          <p:cNvSpPr/>
          <p:nvPr/>
        </p:nvSpPr>
        <p:spPr>
          <a:xfrm>
            <a:off x="7333560" y="3090600"/>
            <a:ext cx="3666240" cy="6123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FFFFFF"/>
                </a:solidFill>
                <a:effectLst/>
                <a:uFillTx/>
                <a:latin typeface="DejaVu Sans"/>
              </a:rPr>
              <a:t>Cộng đồng tiền dân tộc</a:t>
            </a:r>
            <a:endParaRPr lang="en-US" sz="1200" b="0" u="none" strike="noStrike">
              <a:solidFill>
                <a:srgbClr val="FFFFFF"/>
              </a:solidFill>
              <a:effectLst/>
              <a:uFillTx/>
              <a:latin typeface="Arial"/>
            </a:endParaRPr>
          </a:p>
          <a:p>
            <a:pPr defTabSz="457200">
              <a:lnSpc>
                <a:spcPct val="100000"/>
              </a:lnSpc>
              <a:spcAft>
                <a:spcPts val="700"/>
              </a:spcAft>
            </a:pPr>
            <a:r>
              <a:rPr lang="en-US" sz="1200" b="0" u="none" strike="noStrike">
                <a:solidFill>
                  <a:srgbClr val="FFFFFF"/>
                </a:solidFill>
                <a:effectLst/>
                <a:uFillTx/>
                <a:latin typeface="DejaVu Sans"/>
              </a:rPr>
              <a:t>Hai nghĩa → đặc trưng → hình thành</a:t>
            </a:r>
            <a:endParaRPr lang="en-US" sz="1200" b="0" u="none" strike="noStrike">
              <a:solidFill>
                <a:srgbClr val="FFFFFF"/>
              </a:solidFill>
              <a:effectLst/>
              <a:uFillTx/>
              <a:latin typeface="Arial"/>
            </a:endParaRPr>
          </a:p>
        </p:txBody>
      </p:sp>
      <p:cxnSp>
        <p:nvCxnSpPr>
          <p:cNvPr id="145" name="Connector 15"/>
          <p:cNvCxnSpPr/>
          <p:nvPr/>
        </p:nvCxnSpPr>
        <p:spPr>
          <a:xfrm>
            <a:off x="2514600" y="3931920"/>
            <a:ext cx="549000" cy="640440"/>
          </a:xfrm>
          <a:prstGeom prst="straightConnector1">
            <a:avLst/>
          </a:prstGeom>
          <a:ln>
            <a:solidFill>
              <a:srgbClr val="427782"/>
            </a:solidFill>
            <a:round/>
          </a:ln>
        </p:spPr>
      </p:cxnSp>
      <p:sp>
        <p:nvSpPr>
          <p:cNvPr id="146" name="Rounded Rectangle 16"/>
          <p:cNvSpPr/>
          <p:nvPr/>
        </p:nvSpPr>
        <p:spPr>
          <a:xfrm>
            <a:off x="3063240" y="4069080"/>
            <a:ext cx="3885840" cy="100548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47" name="TextBox 17"/>
          <p:cNvSpPr/>
          <p:nvPr/>
        </p:nvSpPr>
        <p:spPr>
          <a:xfrm>
            <a:off x="3173040" y="4133160"/>
            <a:ext cx="3666240" cy="2923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400" b="1" u="none" strike="noStrike">
                <a:solidFill>
                  <a:srgbClr val="DFA54B"/>
                </a:solidFill>
                <a:effectLst/>
                <a:uFillTx/>
                <a:latin typeface="DejaVu Sans"/>
              </a:rPr>
              <a:t>3 • VÔ SẢN</a:t>
            </a:r>
            <a:endParaRPr lang="en-US" sz="1400" b="0" u="none" strike="noStrike">
              <a:solidFill>
                <a:srgbClr val="FFFFFF"/>
              </a:solidFill>
              <a:effectLst/>
              <a:uFillTx/>
              <a:latin typeface="Arial"/>
            </a:endParaRPr>
          </a:p>
        </p:txBody>
      </p:sp>
      <p:sp>
        <p:nvSpPr>
          <p:cNvPr id="148" name="TextBox 18"/>
          <p:cNvSpPr/>
          <p:nvPr/>
        </p:nvSpPr>
        <p:spPr>
          <a:xfrm>
            <a:off x="3173040" y="4462200"/>
            <a:ext cx="3666240" cy="6123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FFFFFF"/>
                </a:solidFill>
                <a:effectLst/>
                <a:uFillTx/>
                <a:latin typeface="DejaVu Sans"/>
              </a:rPr>
              <a:t>Trước khi giành chính quyền</a:t>
            </a:r>
            <a:endParaRPr lang="en-US" sz="1200" b="0" u="none" strike="noStrike">
              <a:solidFill>
                <a:srgbClr val="FFFFFF"/>
              </a:solidFill>
              <a:effectLst/>
              <a:uFillTx/>
              <a:latin typeface="Arial"/>
            </a:endParaRPr>
          </a:p>
          <a:p>
            <a:pPr defTabSz="457200">
              <a:lnSpc>
                <a:spcPct val="100000"/>
              </a:lnSpc>
              <a:spcAft>
                <a:spcPts val="700"/>
              </a:spcAft>
            </a:pPr>
            <a:r>
              <a:rPr lang="en-US" sz="1200" b="0" u="none" strike="noStrike">
                <a:solidFill>
                  <a:srgbClr val="FFFFFF"/>
                </a:solidFill>
                <a:effectLst/>
                <a:uFillTx/>
                <a:latin typeface="DejaVu Sans"/>
              </a:rPr>
              <a:t>Thời kỳ quá độ → Việt Nam</a:t>
            </a:r>
            <a:endParaRPr lang="en-US" sz="1200" b="0" u="none" strike="noStrike">
              <a:solidFill>
                <a:srgbClr val="FFFFFF"/>
              </a:solidFill>
              <a:effectLst/>
              <a:uFillTx/>
              <a:latin typeface="Arial"/>
            </a:endParaRPr>
          </a:p>
        </p:txBody>
      </p:sp>
      <p:cxnSp>
        <p:nvCxnSpPr>
          <p:cNvPr id="149" name="Connector 19"/>
          <p:cNvCxnSpPr/>
          <p:nvPr/>
        </p:nvCxnSpPr>
        <p:spPr>
          <a:xfrm>
            <a:off x="2514600" y="3931920"/>
            <a:ext cx="4709520" cy="640440"/>
          </a:xfrm>
          <a:prstGeom prst="straightConnector1">
            <a:avLst/>
          </a:prstGeom>
          <a:ln>
            <a:solidFill>
              <a:srgbClr val="427782"/>
            </a:solidFill>
            <a:round/>
          </a:ln>
        </p:spPr>
      </p:cxnSp>
      <p:sp>
        <p:nvSpPr>
          <p:cNvPr id="150" name="Rounded Rectangle 20"/>
          <p:cNvSpPr/>
          <p:nvPr/>
        </p:nvSpPr>
        <p:spPr>
          <a:xfrm>
            <a:off x="7223760" y="4069080"/>
            <a:ext cx="3885840" cy="100548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51" name="TextBox 21"/>
          <p:cNvSpPr/>
          <p:nvPr/>
        </p:nvSpPr>
        <p:spPr>
          <a:xfrm>
            <a:off x="7333560" y="4133160"/>
            <a:ext cx="3666240" cy="2923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400" b="1" u="none" strike="noStrike">
                <a:solidFill>
                  <a:srgbClr val="DFA54B"/>
                </a:solidFill>
                <a:effectLst/>
                <a:uFillTx/>
                <a:latin typeface="DejaVu Sans"/>
              </a:rPr>
              <a:t>4 • QUAN HỆ</a:t>
            </a:r>
            <a:endParaRPr lang="en-US" sz="1400" b="0" u="none" strike="noStrike">
              <a:solidFill>
                <a:srgbClr val="FFFFFF"/>
              </a:solidFill>
              <a:effectLst/>
              <a:uFillTx/>
              <a:latin typeface="Arial"/>
            </a:endParaRPr>
          </a:p>
        </p:txBody>
      </p:sp>
      <p:sp>
        <p:nvSpPr>
          <p:cNvPr id="152" name="TextBox 22"/>
          <p:cNvSpPr/>
          <p:nvPr/>
        </p:nvSpPr>
        <p:spPr>
          <a:xfrm>
            <a:off x="7333560" y="4462200"/>
            <a:ext cx="3666240" cy="6123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FFFFFF"/>
                </a:solidFill>
                <a:effectLst/>
                <a:uFillTx/>
                <a:latin typeface="DejaVu Sans"/>
              </a:rPr>
              <a:t>Giai cấp ↔ dân tộc</a:t>
            </a:r>
            <a:endParaRPr lang="en-US" sz="1200" b="0" u="none" strike="noStrike">
              <a:solidFill>
                <a:srgbClr val="FFFFFF"/>
              </a:solidFill>
              <a:effectLst/>
              <a:uFillTx/>
              <a:latin typeface="Arial"/>
            </a:endParaRPr>
          </a:p>
          <a:p>
            <a:pPr defTabSz="457200">
              <a:lnSpc>
                <a:spcPct val="100000"/>
              </a:lnSpc>
              <a:spcAft>
                <a:spcPts val="700"/>
              </a:spcAft>
            </a:pPr>
            <a:r>
              <a:rPr lang="en-US" sz="1200" b="0" u="none" strike="noStrike">
                <a:solidFill>
                  <a:srgbClr val="FFFFFF"/>
                </a:solidFill>
                <a:effectLst/>
                <a:uFillTx/>
                <a:latin typeface="DejaVu Sans"/>
              </a:rPr>
              <a:t>Cả hai ↔ nhân loại</a:t>
            </a:r>
            <a:endParaRPr lang="en-US" sz="1200" b="0" u="none" strike="noStrike">
              <a:solidFill>
                <a:srgbClr val="FFFFFF"/>
              </a:solidFill>
              <a:effectLst/>
              <a:uFillTx/>
              <a:latin typeface="Arial"/>
            </a:endParaRPr>
          </a:p>
        </p:txBody>
      </p:sp>
      <p:sp>
        <p:nvSpPr>
          <p:cNvPr id="153" name="Rounded Rectangle 23"/>
          <p:cNvSpPr/>
          <p:nvPr/>
        </p:nvSpPr>
        <p:spPr>
          <a:xfrm>
            <a:off x="594360" y="5852160"/>
            <a:ext cx="11009160" cy="49356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54" name="TextBox 24"/>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FFFFFF"/>
                </a:solidFill>
                <a:effectLst/>
                <a:uFillTx/>
                <a:latin typeface="DejaVu Sans"/>
              </a:rPr>
              <a:t>Trục kết nối: điều kiện sản xuất • tổ chức cộng đồng • lợi ích và sự phát triển.</a:t>
            </a:r>
            <a:endParaRPr lang="en-US" sz="1200" b="0" u="none" strike="noStrike">
              <a:solidFill>
                <a:srgbClr val="FFFFFF"/>
              </a:solidFill>
              <a:effectLst/>
              <a:uFillTx/>
              <a:latin typeface="Arial"/>
            </a:endParaRPr>
          </a:p>
        </p:txBody>
      </p:sp>
      <p:sp>
        <p:nvSpPr>
          <p:cNvPr id="155" name="TextBox 25"/>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B8CED3"/>
                </a:solidFill>
                <a:effectLst/>
                <a:uFillTx/>
                <a:latin typeface="DejaVu Sans"/>
              </a:rPr>
              <a:t>NGUỒN: triet.docx  •  Diễn đạt, sơ đồ: nhóm biên tập</a:t>
            </a:r>
            <a:endParaRPr lang="en-US" sz="900" b="0" u="none" strike="noStrike">
              <a:solidFill>
                <a:srgbClr val="FFFFFF"/>
              </a:solidFill>
              <a:effectLst/>
              <a:uFillTx/>
              <a:latin typeface="Arial"/>
            </a:endParaRPr>
          </a:p>
        </p:txBody>
      </p:sp>
      <p:sp>
        <p:nvSpPr>
          <p:cNvPr id="156" name="TextBox 26"/>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DFA54B"/>
                </a:solidFill>
                <a:effectLst/>
                <a:uFillTx/>
                <a:latin typeface="DejaVu Sans"/>
              </a:rPr>
              <a:t>04 / 25</a:t>
            </a:r>
            <a:endParaRPr lang="en-US" sz="1000" b="0" u="none" strike="noStrike">
              <a:solidFill>
                <a:srgbClr val="FFFFFF"/>
              </a:solidFill>
              <a:effectLst/>
              <a:uFillTx/>
              <a:latin typeface="Arial"/>
            </a:endParaRPr>
          </a:p>
        </p:txBody>
      </p:sp>
    </p:spTree>
  </p:cSld>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157"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158"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159"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Giai cấp: nhìn từ quan hệ sản xuất</a:t>
            </a:r>
            <a:endParaRPr lang="en-US" sz="2800" b="0" u="none" strike="noStrike">
              <a:solidFill>
                <a:srgbClr val="000000"/>
              </a:solidFill>
              <a:effectLst/>
              <a:uFillTx/>
              <a:latin typeface="Arial"/>
            </a:endParaRPr>
          </a:p>
        </p:txBody>
      </p:sp>
      <p:sp>
        <p:nvSpPr>
          <p:cNvPr id="160"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Theo quan điểm triết học Mác – Lênin trong tài liệu</a:t>
            </a:r>
            <a:endParaRPr lang="en-US" sz="1500" b="0" u="none" strike="noStrike">
              <a:solidFill>
                <a:srgbClr val="000000"/>
              </a:solidFill>
              <a:effectLst/>
              <a:uFillTx/>
              <a:latin typeface="Arial"/>
            </a:endParaRPr>
          </a:p>
        </p:txBody>
      </p:sp>
      <p:sp>
        <p:nvSpPr>
          <p:cNvPr id="161" name="Rounded Rectangle 5"/>
          <p:cNvSpPr/>
          <p:nvPr/>
        </p:nvSpPr>
        <p:spPr>
          <a:xfrm>
            <a:off x="594360" y="2697480"/>
            <a:ext cx="258984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62"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63" name="TextBox 7"/>
          <p:cNvSpPr/>
          <p:nvPr/>
        </p:nvSpPr>
        <p:spPr>
          <a:xfrm>
            <a:off x="777240" y="2843640"/>
            <a:ext cx="222408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164" name="TextBox 8"/>
          <p:cNvSpPr/>
          <p:nvPr/>
        </p:nvSpPr>
        <p:spPr>
          <a:xfrm>
            <a:off x="777240" y="3136320"/>
            <a:ext cx="222408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ĐỊA VỊ</a:t>
            </a:r>
            <a:endParaRPr lang="en-US" sz="1700" b="0" u="none" strike="noStrike">
              <a:solidFill>
                <a:srgbClr val="000000"/>
              </a:solidFill>
              <a:effectLst/>
              <a:uFillTx/>
              <a:latin typeface="Arial"/>
            </a:endParaRPr>
          </a:p>
        </p:txBody>
      </p:sp>
      <p:sp>
        <p:nvSpPr>
          <p:cNvPr id="165" name="TextBox 9"/>
          <p:cNvSpPr/>
          <p:nvPr/>
        </p:nvSpPr>
        <p:spPr>
          <a:xfrm>
            <a:off x="777240" y="3758040"/>
            <a:ext cx="222408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Vị trí trong một hệ thống sản xuất xã hội nhất định.</a:t>
            </a:r>
            <a:endParaRPr lang="en-US" sz="1500" b="0" u="none" strike="noStrike">
              <a:solidFill>
                <a:srgbClr val="000000"/>
              </a:solidFill>
              <a:effectLst/>
              <a:uFillTx/>
              <a:latin typeface="Arial"/>
            </a:endParaRPr>
          </a:p>
        </p:txBody>
      </p:sp>
      <p:sp>
        <p:nvSpPr>
          <p:cNvPr id="166" name="Rounded Rectangle 10"/>
          <p:cNvSpPr/>
          <p:nvPr/>
        </p:nvSpPr>
        <p:spPr>
          <a:xfrm>
            <a:off x="3403800" y="2697480"/>
            <a:ext cx="258984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67" name="Rectangle 11"/>
          <p:cNvSpPr/>
          <p:nvPr/>
        </p:nvSpPr>
        <p:spPr>
          <a:xfrm>
            <a:off x="340380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68" name="TextBox 12"/>
          <p:cNvSpPr/>
          <p:nvPr/>
        </p:nvSpPr>
        <p:spPr>
          <a:xfrm>
            <a:off x="3586680" y="2843640"/>
            <a:ext cx="222408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169" name="TextBox 13"/>
          <p:cNvSpPr/>
          <p:nvPr/>
        </p:nvSpPr>
        <p:spPr>
          <a:xfrm>
            <a:off x="3586680" y="3136320"/>
            <a:ext cx="222408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TƯ LIỆU SẢN XUẤT</a:t>
            </a:r>
            <a:endParaRPr lang="en-US" sz="1700" b="0" u="none" strike="noStrike">
              <a:solidFill>
                <a:srgbClr val="000000"/>
              </a:solidFill>
              <a:effectLst/>
              <a:uFillTx/>
              <a:latin typeface="Arial"/>
            </a:endParaRPr>
          </a:p>
        </p:txBody>
      </p:sp>
      <p:sp>
        <p:nvSpPr>
          <p:cNvPr id="170" name="TextBox 14"/>
          <p:cNvSpPr/>
          <p:nvPr/>
        </p:nvSpPr>
        <p:spPr>
          <a:xfrm>
            <a:off x="3586680" y="3758040"/>
            <a:ext cx="222408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Quan hệ sở hữu, nắm giữ hoặc không nắm giữ tư liệu sản xuất.</a:t>
            </a:r>
            <a:endParaRPr lang="en-US" sz="1500" b="0" u="none" strike="noStrike">
              <a:solidFill>
                <a:srgbClr val="000000"/>
              </a:solidFill>
              <a:effectLst/>
              <a:uFillTx/>
              <a:latin typeface="Arial"/>
            </a:endParaRPr>
          </a:p>
        </p:txBody>
      </p:sp>
      <p:sp>
        <p:nvSpPr>
          <p:cNvPr id="171" name="Rounded Rectangle 15"/>
          <p:cNvSpPr/>
          <p:nvPr/>
        </p:nvSpPr>
        <p:spPr>
          <a:xfrm>
            <a:off x="6213240" y="2697480"/>
            <a:ext cx="258984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72" name="Rectangle 16"/>
          <p:cNvSpPr/>
          <p:nvPr/>
        </p:nvSpPr>
        <p:spPr>
          <a:xfrm>
            <a:off x="621324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73" name="TextBox 17"/>
          <p:cNvSpPr/>
          <p:nvPr/>
        </p:nvSpPr>
        <p:spPr>
          <a:xfrm>
            <a:off x="6396120" y="2843640"/>
            <a:ext cx="222408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174" name="TextBox 18"/>
          <p:cNvSpPr/>
          <p:nvPr/>
        </p:nvSpPr>
        <p:spPr>
          <a:xfrm>
            <a:off x="6396120" y="3136320"/>
            <a:ext cx="222408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TỔ CHỨC LAO ĐỘNG</a:t>
            </a:r>
            <a:endParaRPr lang="en-US" sz="1700" b="0" u="none" strike="noStrike">
              <a:solidFill>
                <a:srgbClr val="000000"/>
              </a:solidFill>
              <a:effectLst/>
              <a:uFillTx/>
              <a:latin typeface="Arial"/>
            </a:endParaRPr>
          </a:p>
        </p:txBody>
      </p:sp>
      <p:sp>
        <p:nvSpPr>
          <p:cNvPr id="175" name="TextBox 19"/>
          <p:cNvSpPr/>
          <p:nvPr/>
        </p:nvSpPr>
        <p:spPr>
          <a:xfrm>
            <a:off x="6396120" y="3758040"/>
            <a:ext cx="222408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Vai trò trong quá trình tổ chức lao động xã hội.</a:t>
            </a:r>
            <a:endParaRPr lang="en-US" sz="1500" b="0" u="none" strike="noStrike">
              <a:solidFill>
                <a:srgbClr val="000000"/>
              </a:solidFill>
              <a:effectLst/>
              <a:uFillTx/>
              <a:latin typeface="Arial"/>
            </a:endParaRPr>
          </a:p>
        </p:txBody>
      </p:sp>
      <p:sp>
        <p:nvSpPr>
          <p:cNvPr id="176" name="Rounded Rectangle 20"/>
          <p:cNvSpPr/>
          <p:nvPr/>
        </p:nvSpPr>
        <p:spPr>
          <a:xfrm>
            <a:off x="9022680" y="2697480"/>
            <a:ext cx="258984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77" name="Rectangle 21"/>
          <p:cNvSpPr/>
          <p:nvPr/>
        </p:nvSpPr>
        <p:spPr>
          <a:xfrm>
            <a:off x="902268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78" name="TextBox 22"/>
          <p:cNvSpPr/>
          <p:nvPr/>
        </p:nvSpPr>
        <p:spPr>
          <a:xfrm>
            <a:off x="9205560" y="2843640"/>
            <a:ext cx="222408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04</a:t>
            </a:r>
            <a:endParaRPr lang="en-US" sz="1200" b="0" u="none" strike="noStrike">
              <a:solidFill>
                <a:srgbClr val="000000"/>
              </a:solidFill>
              <a:effectLst/>
              <a:uFillTx/>
              <a:latin typeface="Arial"/>
            </a:endParaRPr>
          </a:p>
        </p:txBody>
      </p:sp>
      <p:sp>
        <p:nvSpPr>
          <p:cNvPr id="179" name="TextBox 23"/>
          <p:cNvSpPr/>
          <p:nvPr/>
        </p:nvSpPr>
        <p:spPr>
          <a:xfrm>
            <a:off x="9205560" y="3136320"/>
            <a:ext cx="222408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PHÂN PHỐI</a:t>
            </a:r>
            <a:endParaRPr lang="en-US" sz="1700" b="0" u="none" strike="noStrike">
              <a:solidFill>
                <a:srgbClr val="000000"/>
              </a:solidFill>
              <a:effectLst/>
              <a:uFillTx/>
              <a:latin typeface="Arial"/>
            </a:endParaRPr>
          </a:p>
        </p:txBody>
      </p:sp>
      <p:sp>
        <p:nvSpPr>
          <p:cNvPr id="180" name="TextBox 24"/>
          <p:cNvSpPr/>
          <p:nvPr/>
        </p:nvSpPr>
        <p:spPr>
          <a:xfrm>
            <a:off x="9205560" y="3758040"/>
            <a:ext cx="222408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Cách thức và quy mô nhận phần của cải xã hội.</a:t>
            </a:r>
            <a:endParaRPr lang="en-US" sz="1500" b="0" u="none" strike="noStrike">
              <a:solidFill>
                <a:srgbClr val="000000"/>
              </a:solidFill>
              <a:effectLst/>
              <a:uFillTx/>
              <a:latin typeface="Arial"/>
            </a:endParaRPr>
          </a:p>
        </p:txBody>
      </p:sp>
      <p:sp>
        <p:nvSpPr>
          <p:cNvPr id="181" name="Rounded Rectangle 25"/>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82" name="TextBox 26"/>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Giai cấp là những tập đoàn người to lớn, khác nhau theo các quan hệ trên.</a:t>
            </a:r>
            <a:endParaRPr lang="en-US" sz="1200" b="0" u="none" strike="noStrike">
              <a:solidFill>
                <a:srgbClr val="000000"/>
              </a:solidFill>
              <a:effectLst/>
              <a:uFillTx/>
              <a:latin typeface="Arial"/>
            </a:endParaRPr>
          </a:p>
        </p:txBody>
      </p:sp>
      <p:sp>
        <p:nvSpPr>
          <p:cNvPr id="183" name="TextBox 27"/>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184" name="TextBox 28"/>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05 / 25</a:t>
            </a:r>
            <a:endParaRPr lang="en-US" sz="1000" b="0" u="none" strike="noStrike">
              <a:solidFill>
                <a:srgbClr val="000000"/>
              </a:solidFill>
              <a:effectLst/>
              <a:uFillTx/>
              <a:latin typeface="Arial"/>
            </a:endParaRPr>
          </a:p>
        </p:txBody>
      </p:sp>
    </p:spTree>
  </p:cSld>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185"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186"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187"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Nguồn gốc giai cấp: một chuỗi điều kiện</a:t>
            </a:r>
            <a:endParaRPr lang="en-US" sz="2800" b="0" u="none" strike="noStrike">
              <a:solidFill>
                <a:srgbClr val="000000"/>
              </a:solidFill>
              <a:effectLst/>
              <a:uFillTx/>
              <a:latin typeface="Arial"/>
            </a:endParaRPr>
          </a:p>
        </p:txBody>
      </p:sp>
      <p:sp>
        <p:nvSpPr>
          <p:cNvPr id="188"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Phân biệt nguyên nhân sâu xa với nguyên nhân trực tiếp</a:t>
            </a:r>
            <a:endParaRPr lang="en-US" sz="1500" b="0" u="none" strike="noStrike">
              <a:solidFill>
                <a:srgbClr val="000000"/>
              </a:solidFill>
              <a:effectLst/>
              <a:uFillTx/>
              <a:latin typeface="Arial"/>
            </a:endParaRPr>
          </a:p>
        </p:txBody>
      </p:sp>
      <p:sp>
        <p:nvSpPr>
          <p:cNvPr id="189" name="Rounded Rectangle 5"/>
          <p:cNvSpPr/>
          <p:nvPr/>
        </p:nvSpPr>
        <p:spPr>
          <a:xfrm>
            <a:off x="594360" y="2761560"/>
            <a:ext cx="2587320" cy="239544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0" name="Rectangle 6"/>
          <p:cNvSpPr/>
          <p:nvPr/>
        </p:nvSpPr>
        <p:spPr>
          <a:xfrm>
            <a:off x="594360" y="2761560"/>
            <a:ext cx="50040" cy="239544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1" name="TextBox 7"/>
          <p:cNvSpPr/>
          <p:nvPr/>
        </p:nvSpPr>
        <p:spPr>
          <a:xfrm>
            <a:off x="777240" y="2907720"/>
            <a:ext cx="222156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192" name="TextBox 8"/>
          <p:cNvSpPr/>
          <p:nvPr/>
        </p:nvSpPr>
        <p:spPr>
          <a:xfrm>
            <a:off x="777240" y="3200400"/>
            <a:ext cx="222156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LỰC LƯỢNG SẢN XUẤT</a:t>
            </a:r>
            <a:endParaRPr lang="en-US" sz="1700" b="0" u="none" strike="noStrike">
              <a:solidFill>
                <a:srgbClr val="000000"/>
              </a:solidFill>
              <a:effectLst/>
              <a:uFillTx/>
              <a:latin typeface="Arial"/>
            </a:endParaRPr>
          </a:p>
        </p:txBody>
      </p:sp>
      <p:sp>
        <p:nvSpPr>
          <p:cNvPr id="193" name="TextBox 9"/>
          <p:cNvSpPr/>
          <p:nvPr/>
        </p:nvSpPr>
        <p:spPr>
          <a:xfrm>
            <a:off x="777240" y="3822120"/>
            <a:ext cx="2221560" cy="1261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Phát triển → năng suất lao động tăng.</a:t>
            </a:r>
            <a:endParaRPr lang="en-US" sz="1500" b="0" u="none" strike="noStrike">
              <a:solidFill>
                <a:srgbClr val="000000"/>
              </a:solidFill>
              <a:effectLst/>
              <a:uFillTx/>
              <a:latin typeface="Arial"/>
            </a:endParaRPr>
          </a:p>
        </p:txBody>
      </p:sp>
      <p:sp>
        <p:nvSpPr>
          <p:cNvPr id="194" name="TextBox 10"/>
          <p:cNvSpPr/>
          <p:nvPr/>
        </p:nvSpPr>
        <p:spPr>
          <a:xfrm>
            <a:off x="3205080" y="3785760"/>
            <a:ext cx="200880" cy="36540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200" b="1" u="none" strike="noStrike">
                <a:solidFill>
                  <a:srgbClr val="007F82"/>
                </a:solidFill>
                <a:effectLst/>
                <a:uFillTx/>
                <a:latin typeface="DejaVu Sans"/>
              </a:rPr>
              <a:t>›</a:t>
            </a:r>
            <a:endParaRPr lang="en-US" sz="2200" b="0" u="none" strike="noStrike">
              <a:solidFill>
                <a:srgbClr val="000000"/>
              </a:solidFill>
              <a:effectLst/>
              <a:uFillTx/>
              <a:latin typeface="Arial"/>
            </a:endParaRPr>
          </a:p>
        </p:txBody>
      </p:sp>
      <p:sp>
        <p:nvSpPr>
          <p:cNvPr id="195" name="Rounded Rectangle 11"/>
          <p:cNvSpPr/>
          <p:nvPr/>
        </p:nvSpPr>
        <p:spPr>
          <a:xfrm>
            <a:off x="3392280" y="2761560"/>
            <a:ext cx="2587320" cy="239544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6" name="Rectangle 12"/>
          <p:cNvSpPr/>
          <p:nvPr/>
        </p:nvSpPr>
        <p:spPr>
          <a:xfrm>
            <a:off x="3392280" y="2761560"/>
            <a:ext cx="50040" cy="239544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7" name="TextBox 13"/>
          <p:cNvSpPr/>
          <p:nvPr/>
        </p:nvSpPr>
        <p:spPr>
          <a:xfrm>
            <a:off x="3575160" y="2907720"/>
            <a:ext cx="222156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198" name="TextBox 14"/>
          <p:cNvSpPr/>
          <p:nvPr/>
        </p:nvSpPr>
        <p:spPr>
          <a:xfrm>
            <a:off x="3575160" y="3200400"/>
            <a:ext cx="222156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CỦA CẢI DƯ THỪA</a:t>
            </a:r>
            <a:endParaRPr lang="en-US" sz="1700" b="0" u="none" strike="noStrike">
              <a:solidFill>
                <a:srgbClr val="000000"/>
              </a:solidFill>
              <a:effectLst/>
              <a:uFillTx/>
              <a:latin typeface="Arial"/>
            </a:endParaRPr>
          </a:p>
        </p:txBody>
      </p:sp>
      <p:sp>
        <p:nvSpPr>
          <p:cNvPr id="199" name="TextBox 15"/>
          <p:cNvSpPr/>
          <p:nvPr/>
        </p:nvSpPr>
        <p:spPr>
          <a:xfrm>
            <a:off x="3575160" y="3822120"/>
            <a:ext cx="2221560" cy="1261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Tạo điều kiện vật chất cho phân hóa xã hội.</a:t>
            </a:r>
            <a:endParaRPr lang="en-US" sz="1500" b="0" u="none" strike="noStrike">
              <a:solidFill>
                <a:srgbClr val="000000"/>
              </a:solidFill>
              <a:effectLst/>
              <a:uFillTx/>
              <a:latin typeface="Arial"/>
            </a:endParaRPr>
          </a:p>
        </p:txBody>
      </p:sp>
      <p:sp>
        <p:nvSpPr>
          <p:cNvPr id="200" name="TextBox 16"/>
          <p:cNvSpPr/>
          <p:nvPr/>
        </p:nvSpPr>
        <p:spPr>
          <a:xfrm>
            <a:off x="6003000" y="3785760"/>
            <a:ext cx="200880" cy="36540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200" b="1" u="none" strike="noStrike">
                <a:solidFill>
                  <a:srgbClr val="007F82"/>
                </a:solidFill>
                <a:effectLst/>
                <a:uFillTx/>
                <a:latin typeface="DejaVu Sans"/>
              </a:rPr>
              <a:t>›</a:t>
            </a:r>
            <a:endParaRPr lang="en-US" sz="2200" b="0" u="none" strike="noStrike">
              <a:solidFill>
                <a:srgbClr val="000000"/>
              </a:solidFill>
              <a:effectLst/>
              <a:uFillTx/>
              <a:latin typeface="Arial"/>
            </a:endParaRPr>
          </a:p>
        </p:txBody>
      </p:sp>
      <p:sp>
        <p:nvSpPr>
          <p:cNvPr id="201" name="Rounded Rectangle 17"/>
          <p:cNvSpPr/>
          <p:nvPr/>
        </p:nvSpPr>
        <p:spPr>
          <a:xfrm>
            <a:off x="6190560" y="2761560"/>
            <a:ext cx="2587320" cy="239544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2" name="Rectangle 18"/>
          <p:cNvSpPr/>
          <p:nvPr/>
        </p:nvSpPr>
        <p:spPr>
          <a:xfrm>
            <a:off x="6190560" y="2761560"/>
            <a:ext cx="50040" cy="239544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3" name="TextBox 19"/>
          <p:cNvSpPr/>
          <p:nvPr/>
        </p:nvSpPr>
        <p:spPr>
          <a:xfrm>
            <a:off x="6373440" y="2907720"/>
            <a:ext cx="222156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204" name="TextBox 20"/>
          <p:cNvSpPr/>
          <p:nvPr/>
        </p:nvSpPr>
        <p:spPr>
          <a:xfrm>
            <a:off x="6373440" y="3200400"/>
            <a:ext cx="222156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TƯ HỮU TƯ LIỆU</a:t>
            </a:r>
            <a:endParaRPr lang="en-US" sz="1700" b="0" u="none" strike="noStrike">
              <a:solidFill>
                <a:srgbClr val="000000"/>
              </a:solidFill>
              <a:effectLst/>
              <a:uFillTx/>
              <a:latin typeface="Arial"/>
            </a:endParaRPr>
          </a:p>
        </p:txBody>
      </p:sp>
      <p:sp>
        <p:nvSpPr>
          <p:cNvPr id="205" name="TextBox 21"/>
          <p:cNvSpPr/>
          <p:nvPr/>
        </p:nvSpPr>
        <p:spPr>
          <a:xfrm>
            <a:off x="6373440" y="3822120"/>
            <a:ext cx="2221560" cy="1261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Một bộ phận chiếm hữu tư liệu sản xuất làm của riêng.</a:t>
            </a:r>
            <a:endParaRPr lang="en-US" sz="1500" b="0" u="none" strike="noStrike">
              <a:solidFill>
                <a:srgbClr val="000000"/>
              </a:solidFill>
              <a:effectLst/>
              <a:uFillTx/>
              <a:latin typeface="Arial"/>
            </a:endParaRPr>
          </a:p>
        </p:txBody>
      </p:sp>
      <p:sp>
        <p:nvSpPr>
          <p:cNvPr id="206" name="TextBox 22"/>
          <p:cNvSpPr/>
          <p:nvPr/>
        </p:nvSpPr>
        <p:spPr>
          <a:xfrm>
            <a:off x="8801280" y="3785760"/>
            <a:ext cx="200880" cy="36540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200" b="1" u="none" strike="noStrike">
                <a:solidFill>
                  <a:srgbClr val="007F82"/>
                </a:solidFill>
                <a:effectLst/>
                <a:uFillTx/>
                <a:latin typeface="DejaVu Sans"/>
              </a:rPr>
              <a:t>›</a:t>
            </a:r>
            <a:endParaRPr lang="en-US" sz="2200" b="0" u="none" strike="noStrike">
              <a:solidFill>
                <a:srgbClr val="000000"/>
              </a:solidFill>
              <a:effectLst/>
              <a:uFillTx/>
              <a:latin typeface="Arial"/>
            </a:endParaRPr>
          </a:p>
        </p:txBody>
      </p:sp>
      <p:sp>
        <p:nvSpPr>
          <p:cNvPr id="207" name="Rounded Rectangle 23"/>
          <p:cNvSpPr/>
          <p:nvPr/>
        </p:nvSpPr>
        <p:spPr>
          <a:xfrm>
            <a:off x="8988480" y="2761560"/>
            <a:ext cx="2587320" cy="239544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8" name="Rectangle 24"/>
          <p:cNvSpPr/>
          <p:nvPr/>
        </p:nvSpPr>
        <p:spPr>
          <a:xfrm>
            <a:off x="8988480" y="2761560"/>
            <a:ext cx="50040" cy="239544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9" name="TextBox 25"/>
          <p:cNvSpPr/>
          <p:nvPr/>
        </p:nvSpPr>
        <p:spPr>
          <a:xfrm>
            <a:off x="9171360" y="2907720"/>
            <a:ext cx="222156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04</a:t>
            </a:r>
            <a:endParaRPr lang="en-US" sz="1200" b="0" u="none" strike="noStrike">
              <a:solidFill>
                <a:srgbClr val="000000"/>
              </a:solidFill>
              <a:effectLst/>
              <a:uFillTx/>
              <a:latin typeface="Arial"/>
            </a:endParaRPr>
          </a:p>
        </p:txBody>
      </p:sp>
      <p:sp>
        <p:nvSpPr>
          <p:cNvPr id="210" name="TextBox 26"/>
          <p:cNvSpPr/>
          <p:nvPr/>
        </p:nvSpPr>
        <p:spPr>
          <a:xfrm>
            <a:off x="9171360" y="3200400"/>
            <a:ext cx="222156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PHÂN HÓA GIAI CẤP</a:t>
            </a:r>
            <a:endParaRPr lang="en-US" sz="1700" b="0" u="none" strike="noStrike">
              <a:solidFill>
                <a:srgbClr val="000000"/>
              </a:solidFill>
              <a:effectLst/>
              <a:uFillTx/>
              <a:latin typeface="Arial"/>
            </a:endParaRPr>
          </a:p>
        </p:txBody>
      </p:sp>
      <p:sp>
        <p:nvSpPr>
          <p:cNvPr id="211" name="TextBox 27"/>
          <p:cNvSpPr/>
          <p:nvPr/>
        </p:nvSpPr>
        <p:spPr>
          <a:xfrm>
            <a:off x="9171360" y="3822120"/>
            <a:ext cx="2221560" cy="1261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Hình thành quan hệ bóc lột và bị bóc lột.</a:t>
            </a:r>
            <a:endParaRPr lang="en-US" sz="1500" b="0" u="none" strike="noStrike">
              <a:solidFill>
                <a:srgbClr val="000000"/>
              </a:solidFill>
              <a:effectLst/>
              <a:uFillTx/>
              <a:latin typeface="Arial"/>
            </a:endParaRPr>
          </a:p>
        </p:txBody>
      </p:sp>
      <p:sp>
        <p:nvSpPr>
          <p:cNvPr id="212" name="Rounded Rectangle 28"/>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13" name="TextBox 29"/>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Sâu xa: phát triển sản xuất • Trực tiếp: sự xuất hiện chế độ tư hữu về tư liệu sản xuất.</a:t>
            </a:r>
            <a:endParaRPr lang="en-US" sz="1200" b="0" u="none" strike="noStrike">
              <a:solidFill>
                <a:srgbClr val="000000"/>
              </a:solidFill>
              <a:effectLst/>
              <a:uFillTx/>
              <a:latin typeface="Arial"/>
            </a:endParaRPr>
          </a:p>
        </p:txBody>
      </p:sp>
      <p:sp>
        <p:nvSpPr>
          <p:cNvPr id="214" name="TextBox 30"/>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215" name="TextBox 31"/>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06 / 25</a:t>
            </a:r>
            <a:endParaRPr lang="en-US" sz="1000" b="0" u="none" strike="noStrike">
              <a:solidFill>
                <a:srgbClr val="000000"/>
              </a:solidFill>
              <a:effectLst/>
              <a:uFillTx/>
              <a:latin typeface="Arial"/>
            </a:endParaRPr>
          </a:p>
        </p:txBody>
      </p:sp>
    </p:spTree>
  </p:cSld>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216"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217"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218"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Kết cấu xã hội – giai cấp</a:t>
            </a:r>
            <a:endParaRPr lang="en-US" sz="2800" b="0" u="none" strike="noStrike">
              <a:solidFill>
                <a:srgbClr val="000000"/>
              </a:solidFill>
              <a:effectLst/>
              <a:uFillTx/>
              <a:latin typeface="Arial"/>
            </a:endParaRPr>
          </a:p>
        </p:txBody>
      </p:sp>
      <p:sp>
        <p:nvSpPr>
          <p:cNvPr id="219"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Không chỉ có các giai cấp riêng lẻ, mà còn có quan hệ giữa chúng</a:t>
            </a:r>
            <a:endParaRPr lang="en-US" sz="1500" b="0" u="none" strike="noStrike">
              <a:solidFill>
                <a:srgbClr val="000000"/>
              </a:solidFill>
              <a:effectLst/>
              <a:uFillTx/>
              <a:latin typeface="Arial"/>
            </a:endParaRPr>
          </a:p>
        </p:txBody>
      </p:sp>
      <p:sp>
        <p:nvSpPr>
          <p:cNvPr id="220" name="Rounded Rectangle 5"/>
          <p:cNvSpPr/>
          <p:nvPr/>
        </p:nvSpPr>
        <p:spPr>
          <a:xfrm>
            <a:off x="59436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1"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2" name="TextBox 7"/>
          <p:cNvSpPr/>
          <p:nvPr/>
        </p:nvSpPr>
        <p:spPr>
          <a:xfrm>
            <a:off x="77724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223" name="TextBox 8"/>
          <p:cNvSpPr/>
          <p:nvPr/>
        </p:nvSpPr>
        <p:spPr>
          <a:xfrm>
            <a:off x="77724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GIAI CẤP CƠ BẢN</a:t>
            </a:r>
            <a:endParaRPr lang="en-US" sz="1700" b="0" u="none" strike="noStrike">
              <a:solidFill>
                <a:srgbClr val="000000"/>
              </a:solidFill>
              <a:effectLst/>
              <a:uFillTx/>
              <a:latin typeface="Arial"/>
            </a:endParaRPr>
          </a:p>
        </p:txBody>
      </p:sp>
      <p:sp>
        <p:nvSpPr>
          <p:cNvPr id="224" name="TextBox 9"/>
          <p:cNvSpPr/>
          <p:nvPr/>
        </p:nvSpPr>
        <p:spPr>
          <a:xfrm>
            <a:off x="77724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Gắn với phương thức sản xuất giữ vai trò thống trị.</a:t>
            </a:r>
            <a:endParaRPr lang="en-US" sz="1700" b="0" u="none" strike="noStrike">
              <a:solidFill>
                <a:srgbClr val="000000"/>
              </a:solidFill>
              <a:effectLst/>
              <a:uFillTx/>
              <a:latin typeface="Arial"/>
            </a:endParaRPr>
          </a:p>
        </p:txBody>
      </p:sp>
      <p:sp>
        <p:nvSpPr>
          <p:cNvPr id="225" name="Rounded Rectangle 10"/>
          <p:cNvSpPr/>
          <p:nvPr/>
        </p:nvSpPr>
        <p:spPr>
          <a:xfrm>
            <a:off x="43405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6" name="Rectangle 11"/>
          <p:cNvSpPr/>
          <p:nvPr/>
        </p:nvSpPr>
        <p:spPr>
          <a:xfrm>
            <a:off x="43405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7" name="TextBox 12"/>
          <p:cNvSpPr/>
          <p:nvPr/>
        </p:nvSpPr>
        <p:spPr>
          <a:xfrm>
            <a:off x="45234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228" name="TextBox 13"/>
          <p:cNvSpPr/>
          <p:nvPr/>
        </p:nvSpPr>
        <p:spPr>
          <a:xfrm>
            <a:off x="45234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GIAI CẤP KHÔNG CƠ BẢN</a:t>
            </a:r>
            <a:endParaRPr lang="en-US" sz="1700" b="0" u="none" strike="noStrike">
              <a:solidFill>
                <a:srgbClr val="000000"/>
              </a:solidFill>
              <a:effectLst/>
              <a:uFillTx/>
              <a:latin typeface="Arial"/>
            </a:endParaRPr>
          </a:p>
        </p:txBody>
      </p:sp>
      <p:sp>
        <p:nvSpPr>
          <p:cNvPr id="229" name="TextBox 14"/>
          <p:cNvSpPr/>
          <p:nvPr/>
        </p:nvSpPr>
        <p:spPr>
          <a:xfrm>
            <a:off x="45234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Gắn với phương thức sản xuất tàn dư hoặc mầm mống.</a:t>
            </a:r>
            <a:endParaRPr lang="en-US" sz="1700" b="0" u="none" strike="noStrike">
              <a:solidFill>
                <a:srgbClr val="000000"/>
              </a:solidFill>
              <a:effectLst/>
              <a:uFillTx/>
              <a:latin typeface="Arial"/>
            </a:endParaRPr>
          </a:p>
        </p:txBody>
      </p:sp>
      <p:sp>
        <p:nvSpPr>
          <p:cNvPr id="230" name="Rounded Rectangle 15"/>
          <p:cNvSpPr/>
          <p:nvPr/>
        </p:nvSpPr>
        <p:spPr>
          <a:xfrm>
            <a:off x="80863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31" name="Rectangle 16"/>
          <p:cNvSpPr/>
          <p:nvPr/>
        </p:nvSpPr>
        <p:spPr>
          <a:xfrm>
            <a:off x="80863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32" name="TextBox 17"/>
          <p:cNvSpPr/>
          <p:nvPr/>
        </p:nvSpPr>
        <p:spPr>
          <a:xfrm>
            <a:off x="82692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233" name="TextBox 18"/>
          <p:cNvSpPr/>
          <p:nvPr/>
        </p:nvSpPr>
        <p:spPr>
          <a:xfrm>
            <a:off x="82692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TẦNG LỚP, NHÓM XÃ HỘI</a:t>
            </a:r>
            <a:endParaRPr lang="en-US" sz="1700" b="0" u="none" strike="noStrike">
              <a:solidFill>
                <a:srgbClr val="000000"/>
              </a:solidFill>
              <a:effectLst/>
              <a:uFillTx/>
              <a:latin typeface="Arial"/>
            </a:endParaRPr>
          </a:p>
        </p:txBody>
      </p:sp>
      <p:sp>
        <p:nvSpPr>
          <p:cNvPr id="234" name="TextBox 19"/>
          <p:cNvSpPr/>
          <p:nvPr/>
        </p:nvSpPr>
        <p:spPr>
          <a:xfrm>
            <a:off x="82692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Ví dụ trong tài liệu: trí thức, nhân sĩ, giới tu hành.</a:t>
            </a:r>
            <a:endParaRPr lang="en-US" sz="1700" b="0" u="none" strike="noStrike">
              <a:solidFill>
                <a:srgbClr val="000000"/>
              </a:solidFill>
              <a:effectLst/>
              <a:uFillTx/>
              <a:latin typeface="Arial"/>
            </a:endParaRPr>
          </a:p>
        </p:txBody>
      </p:sp>
      <p:sp>
        <p:nvSpPr>
          <p:cNvPr id="235" name="Rounded Rectangle 20"/>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36"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Kết cấu tồn tại khách quan trong một hình thái kinh tế – xã hội hoặc giai đoạn lịch sử.</a:t>
            </a:r>
            <a:endParaRPr lang="en-US" sz="1200" b="0" u="none" strike="noStrike">
              <a:solidFill>
                <a:srgbClr val="000000"/>
              </a:solidFill>
              <a:effectLst/>
              <a:uFillTx/>
              <a:latin typeface="Arial"/>
            </a:endParaRPr>
          </a:p>
        </p:txBody>
      </p:sp>
      <p:sp>
        <p:nvSpPr>
          <p:cNvPr id="237"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238"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07 / 25</a:t>
            </a:r>
            <a:endParaRPr lang="en-US" sz="1000" b="0" u="none" strike="noStrike">
              <a:solidFill>
                <a:srgbClr val="000000"/>
              </a:solidFill>
              <a:effectLst/>
              <a:uFillTx/>
              <a:latin typeface="Arial"/>
            </a:endParaRPr>
          </a:p>
        </p:txBody>
      </p:sp>
    </p:spTree>
  </p:cSld>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239"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240"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241"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Đấu tranh giai cấp: mâu thuẫn và biến đổi</a:t>
            </a:r>
            <a:endParaRPr lang="en-US" sz="2800" b="0" u="none" strike="noStrike">
              <a:solidFill>
                <a:srgbClr val="000000"/>
              </a:solidFill>
              <a:effectLst/>
              <a:uFillTx/>
              <a:latin typeface="Arial"/>
            </a:endParaRPr>
          </a:p>
        </p:txBody>
      </p:sp>
      <p:sp>
        <p:nvSpPr>
          <p:cNvPr id="242"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Phạm vi: các tập đoàn người có lợi ích cơ bản đối lập</a:t>
            </a:r>
            <a:endParaRPr lang="en-US" sz="1500" b="0" u="none" strike="noStrike">
              <a:solidFill>
                <a:srgbClr val="000000"/>
              </a:solidFill>
              <a:effectLst/>
              <a:uFillTx/>
              <a:latin typeface="Arial"/>
            </a:endParaRPr>
          </a:p>
        </p:txBody>
      </p:sp>
      <p:sp>
        <p:nvSpPr>
          <p:cNvPr id="243" name="Rounded Rectangle 5"/>
          <p:cNvSpPr/>
          <p:nvPr/>
        </p:nvSpPr>
        <p:spPr>
          <a:xfrm>
            <a:off x="59436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44"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45" name="TextBox 7"/>
          <p:cNvSpPr/>
          <p:nvPr/>
        </p:nvSpPr>
        <p:spPr>
          <a:xfrm>
            <a:off x="77724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246" name="TextBox 8"/>
          <p:cNvSpPr/>
          <p:nvPr/>
        </p:nvSpPr>
        <p:spPr>
          <a:xfrm>
            <a:off x="77724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CĂN NGUYÊN</a:t>
            </a:r>
            <a:endParaRPr lang="en-US" sz="1700" b="0" u="none" strike="noStrike">
              <a:solidFill>
                <a:srgbClr val="000000"/>
              </a:solidFill>
              <a:effectLst/>
              <a:uFillTx/>
              <a:latin typeface="Arial"/>
            </a:endParaRPr>
          </a:p>
        </p:txBody>
      </p:sp>
      <p:sp>
        <p:nvSpPr>
          <p:cNvPr id="247" name="TextBox 9"/>
          <p:cNvSpPr/>
          <p:nvPr/>
        </p:nvSpPr>
        <p:spPr>
          <a:xfrm>
            <a:off x="77724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Mâu thuẫn lực lượng sản xuất – quan hệ sản xuất; áp bức và bóc lột.</a:t>
            </a:r>
            <a:endParaRPr lang="en-US" sz="1700" b="0" u="none" strike="noStrike">
              <a:solidFill>
                <a:srgbClr val="000000"/>
              </a:solidFill>
              <a:effectLst/>
              <a:uFillTx/>
              <a:latin typeface="Arial"/>
            </a:endParaRPr>
          </a:p>
        </p:txBody>
      </p:sp>
      <p:sp>
        <p:nvSpPr>
          <p:cNvPr id="248" name="Rounded Rectangle 10"/>
          <p:cNvSpPr/>
          <p:nvPr/>
        </p:nvSpPr>
        <p:spPr>
          <a:xfrm>
            <a:off x="43405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49" name="Rectangle 11"/>
          <p:cNvSpPr/>
          <p:nvPr/>
        </p:nvSpPr>
        <p:spPr>
          <a:xfrm>
            <a:off x="43405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0" name="TextBox 12"/>
          <p:cNvSpPr/>
          <p:nvPr/>
        </p:nvSpPr>
        <p:spPr>
          <a:xfrm>
            <a:off x="45234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251" name="TextBox 13"/>
          <p:cNvSpPr/>
          <p:nvPr/>
        </p:nvSpPr>
        <p:spPr>
          <a:xfrm>
            <a:off x="45234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BẢN CHẤT</a:t>
            </a:r>
            <a:endParaRPr lang="en-US" sz="1700" b="0" u="none" strike="noStrike">
              <a:solidFill>
                <a:srgbClr val="000000"/>
              </a:solidFill>
              <a:effectLst/>
              <a:uFillTx/>
              <a:latin typeface="Arial"/>
            </a:endParaRPr>
          </a:p>
        </p:txBody>
      </p:sp>
      <p:sp>
        <p:nvSpPr>
          <p:cNvPr id="252" name="TextBox 14"/>
          <p:cNvSpPr/>
          <p:nvPr/>
        </p:nvSpPr>
        <p:spPr>
          <a:xfrm>
            <a:off x="45234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Đấu tranh giữa lực lượng áp bức, bóc lột và lực lượng bị áp bức, bóc lột.</a:t>
            </a:r>
            <a:endParaRPr lang="en-US" sz="1700" b="0" u="none" strike="noStrike">
              <a:solidFill>
                <a:srgbClr val="000000"/>
              </a:solidFill>
              <a:effectLst/>
              <a:uFillTx/>
              <a:latin typeface="Arial"/>
            </a:endParaRPr>
          </a:p>
        </p:txBody>
      </p:sp>
      <p:sp>
        <p:nvSpPr>
          <p:cNvPr id="253" name="Rounded Rectangle 15"/>
          <p:cNvSpPr/>
          <p:nvPr/>
        </p:nvSpPr>
        <p:spPr>
          <a:xfrm>
            <a:off x="80863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4" name="Rectangle 16"/>
          <p:cNvSpPr/>
          <p:nvPr/>
        </p:nvSpPr>
        <p:spPr>
          <a:xfrm>
            <a:off x="80863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5" name="TextBox 17"/>
          <p:cNvSpPr/>
          <p:nvPr/>
        </p:nvSpPr>
        <p:spPr>
          <a:xfrm>
            <a:off x="82692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256" name="TextBox 18"/>
          <p:cNvSpPr/>
          <p:nvPr/>
        </p:nvSpPr>
        <p:spPr>
          <a:xfrm>
            <a:off x="82692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VAI TRÒ</a:t>
            </a:r>
            <a:endParaRPr lang="en-US" sz="1700" b="0" u="none" strike="noStrike">
              <a:solidFill>
                <a:srgbClr val="000000"/>
              </a:solidFill>
              <a:effectLst/>
              <a:uFillTx/>
              <a:latin typeface="Arial"/>
            </a:endParaRPr>
          </a:p>
        </p:txBody>
      </p:sp>
      <p:sp>
        <p:nvSpPr>
          <p:cNvPr id="257" name="TextBox 19"/>
          <p:cNvSpPr/>
          <p:nvPr/>
        </p:nvSpPr>
        <p:spPr>
          <a:xfrm>
            <a:off x="82692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Trong xã hội có giai cấp đối kháng: động lực trực tiếp của những bước chuyển xã hội.</a:t>
            </a:r>
            <a:endParaRPr lang="en-US" sz="1700" b="0" u="none" strike="noStrike">
              <a:solidFill>
                <a:srgbClr val="000000"/>
              </a:solidFill>
              <a:effectLst/>
              <a:uFillTx/>
              <a:latin typeface="Arial"/>
            </a:endParaRPr>
          </a:p>
        </p:txBody>
      </p:sp>
      <p:sp>
        <p:nvSpPr>
          <p:cNvPr id="258" name="Rounded Rectangle 20"/>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9"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Không phải mọi bất đồng cá nhân đều là đấu tranh giai cấp. [Diễn giải bổ sung]</a:t>
            </a:r>
            <a:endParaRPr lang="en-US" sz="1200" b="0" u="none" strike="noStrike">
              <a:solidFill>
                <a:srgbClr val="000000"/>
              </a:solidFill>
              <a:effectLst/>
              <a:uFillTx/>
              <a:latin typeface="Arial"/>
            </a:endParaRPr>
          </a:p>
        </p:txBody>
      </p:sp>
      <p:sp>
        <p:nvSpPr>
          <p:cNvPr id="260"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261"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08 / 25</a:t>
            </a:r>
            <a:endParaRPr lang="en-US" sz="1000" b="0" u="none" strike="noStrike">
              <a:solidFill>
                <a:srgbClr val="000000"/>
              </a:solidFill>
              <a:effectLst/>
              <a:uFillTx/>
              <a:latin typeface="Arial"/>
            </a:endParaRPr>
          </a:p>
        </p:txBody>
      </p:sp>
    </p:spTree>
  </p:cSld>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262"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263"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264"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Từ huyết thống đến cộng đồng bền vững</a:t>
            </a:r>
            <a:endParaRPr lang="en-US" sz="2800" b="0" u="none" strike="noStrike">
              <a:solidFill>
                <a:srgbClr val="000000"/>
              </a:solidFill>
              <a:effectLst/>
              <a:uFillTx/>
              <a:latin typeface="Arial"/>
            </a:endParaRPr>
          </a:p>
        </p:txBody>
      </p:sp>
      <p:sp>
        <p:nvSpPr>
          <p:cNvPr id="265"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Các hình thức cộng đồng người trước và khi hình thành dân tộc</a:t>
            </a:r>
            <a:endParaRPr lang="en-US" sz="1500" b="0" u="none" strike="noStrike">
              <a:solidFill>
                <a:srgbClr val="000000"/>
              </a:solidFill>
              <a:effectLst/>
              <a:uFillTx/>
              <a:latin typeface="Arial"/>
            </a:endParaRPr>
          </a:p>
        </p:txBody>
      </p:sp>
      <p:sp>
        <p:nvSpPr>
          <p:cNvPr id="266" name="Rounded Rectangle 5"/>
          <p:cNvSpPr/>
          <p:nvPr/>
        </p:nvSpPr>
        <p:spPr>
          <a:xfrm>
            <a:off x="594360" y="2761560"/>
            <a:ext cx="2587320" cy="239544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67" name="Rectangle 6"/>
          <p:cNvSpPr/>
          <p:nvPr/>
        </p:nvSpPr>
        <p:spPr>
          <a:xfrm>
            <a:off x="594360" y="2761560"/>
            <a:ext cx="50040" cy="239544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68" name="TextBox 7"/>
          <p:cNvSpPr/>
          <p:nvPr/>
        </p:nvSpPr>
        <p:spPr>
          <a:xfrm>
            <a:off x="777240" y="2907720"/>
            <a:ext cx="222156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269" name="TextBox 8"/>
          <p:cNvSpPr/>
          <p:nvPr/>
        </p:nvSpPr>
        <p:spPr>
          <a:xfrm>
            <a:off x="777240" y="3200400"/>
            <a:ext cx="222156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THỊ TỘC</a:t>
            </a:r>
            <a:endParaRPr lang="en-US" sz="1700" b="0" u="none" strike="noStrike">
              <a:solidFill>
                <a:srgbClr val="000000"/>
              </a:solidFill>
              <a:effectLst/>
              <a:uFillTx/>
              <a:latin typeface="Arial"/>
            </a:endParaRPr>
          </a:p>
        </p:txBody>
      </p:sp>
      <p:sp>
        <p:nvSpPr>
          <p:cNvPr id="270" name="TextBox 9"/>
          <p:cNvSpPr/>
          <p:nvPr/>
        </p:nvSpPr>
        <p:spPr>
          <a:xfrm>
            <a:off x="777240" y="3822120"/>
            <a:ext cx="2221560" cy="1261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Cộng đồng sơ khai</a:t>
            </a:r>
            <a:endParaRPr lang="en-US" sz="1500" b="0" u="none" strike="noStrike">
              <a:solidFill>
                <a:srgbClr val="000000"/>
              </a:solidFill>
              <a:effectLst/>
              <a:uFillTx/>
              <a:latin typeface="Arial"/>
            </a:endParaRPr>
          </a:p>
          <a:p>
            <a:pPr defTabSz="457200">
              <a:lnSpc>
                <a:spcPct val="100000"/>
              </a:lnSpc>
              <a:spcAft>
                <a:spcPts val="300"/>
              </a:spcAft>
            </a:pPr>
            <a:r>
              <a:rPr lang="en-US" sz="1500" b="0" u="none" strike="noStrike">
                <a:solidFill>
                  <a:srgbClr val="536B75"/>
                </a:solidFill>
                <a:effectLst/>
                <a:uFillTx/>
                <a:latin typeface="DejaVu Sans"/>
              </a:rPr>
              <a:t>Quan hệ huyết thống</a:t>
            </a:r>
            <a:endParaRPr lang="en-US" sz="1500" b="0" u="none" strike="noStrike">
              <a:solidFill>
                <a:srgbClr val="000000"/>
              </a:solidFill>
              <a:effectLst/>
              <a:uFillTx/>
              <a:latin typeface="Arial"/>
            </a:endParaRPr>
          </a:p>
        </p:txBody>
      </p:sp>
      <p:sp>
        <p:nvSpPr>
          <p:cNvPr id="271" name="TextBox 10"/>
          <p:cNvSpPr/>
          <p:nvPr/>
        </p:nvSpPr>
        <p:spPr>
          <a:xfrm>
            <a:off x="3205080" y="3785760"/>
            <a:ext cx="200880" cy="36540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200" b="1" u="none" strike="noStrike">
                <a:solidFill>
                  <a:srgbClr val="007F82"/>
                </a:solidFill>
                <a:effectLst/>
                <a:uFillTx/>
                <a:latin typeface="DejaVu Sans"/>
              </a:rPr>
              <a:t>›</a:t>
            </a:r>
            <a:endParaRPr lang="en-US" sz="2200" b="0" u="none" strike="noStrike">
              <a:solidFill>
                <a:srgbClr val="000000"/>
              </a:solidFill>
              <a:effectLst/>
              <a:uFillTx/>
              <a:latin typeface="Arial"/>
            </a:endParaRPr>
          </a:p>
        </p:txBody>
      </p:sp>
      <p:sp>
        <p:nvSpPr>
          <p:cNvPr id="272" name="Rounded Rectangle 11"/>
          <p:cNvSpPr/>
          <p:nvPr/>
        </p:nvSpPr>
        <p:spPr>
          <a:xfrm>
            <a:off x="3392280" y="2761560"/>
            <a:ext cx="2587320" cy="239544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73" name="Rectangle 12"/>
          <p:cNvSpPr/>
          <p:nvPr/>
        </p:nvSpPr>
        <p:spPr>
          <a:xfrm>
            <a:off x="3392280" y="2761560"/>
            <a:ext cx="50040" cy="239544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74" name="TextBox 13"/>
          <p:cNvSpPr/>
          <p:nvPr/>
        </p:nvSpPr>
        <p:spPr>
          <a:xfrm>
            <a:off x="3575160" y="2907720"/>
            <a:ext cx="222156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275" name="TextBox 14"/>
          <p:cNvSpPr/>
          <p:nvPr/>
        </p:nvSpPr>
        <p:spPr>
          <a:xfrm>
            <a:off x="3575160" y="3200400"/>
            <a:ext cx="222156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BỘ LẠC</a:t>
            </a:r>
            <a:endParaRPr lang="en-US" sz="1700" b="0" u="none" strike="noStrike">
              <a:solidFill>
                <a:srgbClr val="000000"/>
              </a:solidFill>
              <a:effectLst/>
              <a:uFillTx/>
              <a:latin typeface="Arial"/>
            </a:endParaRPr>
          </a:p>
        </p:txBody>
      </p:sp>
      <p:sp>
        <p:nvSpPr>
          <p:cNvPr id="276" name="TextBox 15"/>
          <p:cNvSpPr/>
          <p:nvPr/>
        </p:nvSpPr>
        <p:spPr>
          <a:xfrm>
            <a:off x="3575160" y="3822120"/>
            <a:ext cx="2221560" cy="1261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Liên kết nhiều thị tộc</a:t>
            </a:r>
            <a:endParaRPr lang="en-US" sz="1500" b="0" u="none" strike="noStrike">
              <a:solidFill>
                <a:srgbClr val="000000"/>
              </a:solidFill>
              <a:effectLst/>
              <a:uFillTx/>
              <a:latin typeface="Arial"/>
            </a:endParaRPr>
          </a:p>
          <a:p>
            <a:pPr defTabSz="457200">
              <a:lnSpc>
                <a:spcPct val="100000"/>
              </a:lnSpc>
              <a:spcAft>
                <a:spcPts val="300"/>
              </a:spcAft>
            </a:pPr>
            <a:r>
              <a:rPr lang="en-US" sz="1500" b="0" u="none" strike="noStrike">
                <a:solidFill>
                  <a:srgbClr val="536B75"/>
                </a:solidFill>
                <a:effectLst/>
                <a:uFillTx/>
                <a:latin typeface="DejaVu Sans"/>
              </a:rPr>
              <a:t>Hợp sức và bảo vệ</a:t>
            </a:r>
            <a:endParaRPr lang="en-US" sz="1500" b="0" u="none" strike="noStrike">
              <a:solidFill>
                <a:srgbClr val="000000"/>
              </a:solidFill>
              <a:effectLst/>
              <a:uFillTx/>
              <a:latin typeface="Arial"/>
            </a:endParaRPr>
          </a:p>
        </p:txBody>
      </p:sp>
      <p:sp>
        <p:nvSpPr>
          <p:cNvPr id="277" name="TextBox 16"/>
          <p:cNvSpPr/>
          <p:nvPr/>
        </p:nvSpPr>
        <p:spPr>
          <a:xfrm>
            <a:off x="6003000" y="3785760"/>
            <a:ext cx="200880" cy="36540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200" b="1" u="none" strike="noStrike">
                <a:solidFill>
                  <a:srgbClr val="007F82"/>
                </a:solidFill>
                <a:effectLst/>
                <a:uFillTx/>
                <a:latin typeface="DejaVu Sans"/>
              </a:rPr>
              <a:t>›</a:t>
            </a:r>
            <a:endParaRPr lang="en-US" sz="2200" b="0" u="none" strike="noStrike">
              <a:solidFill>
                <a:srgbClr val="000000"/>
              </a:solidFill>
              <a:effectLst/>
              <a:uFillTx/>
              <a:latin typeface="Arial"/>
            </a:endParaRPr>
          </a:p>
        </p:txBody>
      </p:sp>
      <p:sp>
        <p:nvSpPr>
          <p:cNvPr id="278" name="Rounded Rectangle 17"/>
          <p:cNvSpPr/>
          <p:nvPr/>
        </p:nvSpPr>
        <p:spPr>
          <a:xfrm>
            <a:off x="6190560" y="2761560"/>
            <a:ext cx="2587320" cy="239544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79" name="Rectangle 18"/>
          <p:cNvSpPr/>
          <p:nvPr/>
        </p:nvSpPr>
        <p:spPr>
          <a:xfrm>
            <a:off x="6190560" y="2761560"/>
            <a:ext cx="50040" cy="239544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80" name="TextBox 19"/>
          <p:cNvSpPr/>
          <p:nvPr/>
        </p:nvSpPr>
        <p:spPr>
          <a:xfrm>
            <a:off x="6373440" y="2907720"/>
            <a:ext cx="222156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281" name="TextBox 20"/>
          <p:cNvSpPr/>
          <p:nvPr/>
        </p:nvSpPr>
        <p:spPr>
          <a:xfrm>
            <a:off x="6373440" y="3200400"/>
            <a:ext cx="222156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BỘ TỘC</a:t>
            </a:r>
            <a:endParaRPr lang="en-US" sz="1700" b="0" u="none" strike="noStrike">
              <a:solidFill>
                <a:srgbClr val="000000"/>
              </a:solidFill>
              <a:effectLst/>
              <a:uFillTx/>
              <a:latin typeface="Arial"/>
            </a:endParaRPr>
          </a:p>
        </p:txBody>
      </p:sp>
      <p:sp>
        <p:nvSpPr>
          <p:cNvPr id="282" name="TextBox 21"/>
          <p:cNvSpPr/>
          <p:nvPr/>
        </p:nvSpPr>
        <p:spPr>
          <a:xfrm>
            <a:off x="6373440" y="3822120"/>
            <a:ext cx="2221560" cy="1261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Liên kết nhiều bộ lạc</a:t>
            </a:r>
            <a:endParaRPr lang="en-US" sz="1500" b="0" u="none" strike="noStrike">
              <a:solidFill>
                <a:srgbClr val="000000"/>
              </a:solidFill>
              <a:effectLst/>
              <a:uFillTx/>
              <a:latin typeface="Arial"/>
            </a:endParaRPr>
          </a:p>
          <a:p>
            <a:pPr defTabSz="457200">
              <a:lnSpc>
                <a:spcPct val="100000"/>
              </a:lnSpc>
              <a:spcAft>
                <a:spcPts val="300"/>
              </a:spcAft>
            </a:pPr>
            <a:r>
              <a:rPr lang="en-US" sz="1500" b="0" u="none" strike="noStrike">
                <a:solidFill>
                  <a:srgbClr val="536B75"/>
                </a:solidFill>
                <a:effectLst/>
                <a:uFillTx/>
                <a:latin typeface="DejaVu Sans"/>
              </a:rPr>
              <a:t>Lãnh thổ tương đối ổn định</a:t>
            </a:r>
            <a:endParaRPr lang="en-US" sz="1500" b="0" u="none" strike="noStrike">
              <a:solidFill>
                <a:srgbClr val="000000"/>
              </a:solidFill>
              <a:effectLst/>
              <a:uFillTx/>
              <a:latin typeface="Arial"/>
            </a:endParaRPr>
          </a:p>
        </p:txBody>
      </p:sp>
      <p:sp>
        <p:nvSpPr>
          <p:cNvPr id="283" name="TextBox 22"/>
          <p:cNvSpPr/>
          <p:nvPr/>
        </p:nvSpPr>
        <p:spPr>
          <a:xfrm>
            <a:off x="8801280" y="3785760"/>
            <a:ext cx="200880" cy="36540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200" b="1" u="none" strike="noStrike">
                <a:solidFill>
                  <a:srgbClr val="007F82"/>
                </a:solidFill>
                <a:effectLst/>
                <a:uFillTx/>
                <a:latin typeface="DejaVu Sans"/>
              </a:rPr>
              <a:t>›</a:t>
            </a:r>
            <a:endParaRPr lang="en-US" sz="2200" b="0" u="none" strike="noStrike">
              <a:solidFill>
                <a:srgbClr val="000000"/>
              </a:solidFill>
              <a:effectLst/>
              <a:uFillTx/>
              <a:latin typeface="Arial"/>
            </a:endParaRPr>
          </a:p>
        </p:txBody>
      </p:sp>
      <p:sp>
        <p:nvSpPr>
          <p:cNvPr id="284" name="Rounded Rectangle 23"/>
          <p:cNvSpPr/>
          <p:nvPr/>
        </p:nvSpPr>
        <p:spPr>
          <a:xfrm>
            <a:off x="8988480" y="2761560"/>
            <a:ext cx="2587320" cy="239544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85" name="Rectangle 24"/>
          <p:cNvSpPr/>
          <p:nvPr/>
        </p:nvSpPr>
        <p:spPr>
          <a:xfrm>
            <a:off x="8988480" y="2761560"/>
            <a:ext cx="50040" cy="239544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86" name="TextBox 25"/>
          <p:cNvSpPr/>
          <p:nvPr/>
        </p:nvSpPr>
        <p:spPr>
          <a:xfrm>
            <a:off x="9171360" y="2907720"/>
            <a:ext cx="222156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04</a:t>
            </a:r>
            <a:endParaRPr lang="en-US" sz="1200" b="0" u="none" strike="noStrike">
              <a:solidFill>
                <a:srgbClr val="000000"/>
              </a:solidFill>
              <a:effectLst/>
              <a:uFillTx/>
              <a:latin typeface="Arial"/>
            </a:endParaRPr>
          </a:p>
        </p:txBody>
      </p:sp>
      <p:sp>
        <p:nvSpPr>
          <p:cNvPr id="287" name="TextBox 26"/>
          <p:cNvSpPr/>
          <p:nvPr/>
        </p:nvSpPr>
        <p:spPr>
          <a:xfrm>
            <a:off x="9171360" y="3200400"/>
            <a:ext cx="222156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DÂN TỘC</a:t>
            </a:r>
            <a:endParaRPr lang="en-US" sz="1700" b="0" u="none" strike="noStrike">
              <a:solidFill>
                <a:srgbClr val="000000"/>
              </a:solidFill>
              <a:effectLst/>
              <a:uFillTx/>
              <a:latin typeface="Arial"/>
            </a:endParaRPr>
          </a:p>
        </p:txBody>
      </p:sp>
      <p:sp>
        <p:nvSpPr>
          <p:cNvPr id="288" name="TextBox 27"/>
          <p:cNvSpPr/>
          <p:nvPr/>
        </p:nvSpPr>
        <p:spPr>
          <a:xfrm>
            <a:off x="9171360" y="3822120"/>
            <a:ext cx="2221560" cy="1261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Cộng đồng ổn định</a:t>
            </a:r>
            <a:endParaRPr lang="en-US" sz="1500" b="0" u="none" strike="noStrike">
              <a:solidFill>
                <a:srgbClr val="000000"/>
              </a:solidFill>
              <a:effectLst/>
              <a:uFillTx/>
              <a:latin typeface="Arial"/>
            </a:endParaRPr>
          </a:p>
          <a:p>
            <a:pPr defTabSz="457200">
              <a:lnSpc>
                <a:spcPct val="100000"/>
              </a:lnSpc>
              <a:spcAft>
                <a:spcPts val="300"/>
              </a:spcAft>
            </a:pPr>
            <a:r>
              <a:rPr lang="en-US" sz="1500" b="0" u="none" strike="noStrike">
                <a:solidFill>
                  <a:srgbClr val="536B75"/>
                </a:solidFill>
                <a:effectLst/>
                <a:uFillTx/>
                <a:latin typeface="DejaVu Sans"/>
              </a:rPr>
              <a:t>Lãnh thổ, kinh tế, văn hóa</a:t>
            </a:r>
            <a:endParaRPr lang="en-US" sz="1500" b="0" u="none" strike="noStrike">
              <a:solidFill>
                <a:srgbClr val="000000"/>
              </a:solidFill>
              <a:effectLst/>
              <a:uFillTx/>
              <a:latin typeface="Arial"/>
            </a:endParaRPr>
          </a:p>
        </p:txBody>
      </p:sp>
      <p:sp>
        <p:nvSpPr>
          <p:cNvPr id="289" name="Rounded Rectangle 28"/>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90" name="TextBox 29"/>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Sơ đồ trình tự khái quát theo tài liệu, không gắn các mốc niên đại giả định.</a:t>
            </a:r>
            <a:endParaRPr lang="en-US" sz="1200" b="0" u="none" strike="noStrike">
              <a:solidFill>
                <a:srgbClr val="000000"/>
              </a:solidFill>
              <a:effectLst/>
              <a:uFillTx/>
              <a:latin typeface="Arial"/>
            </a:endParaRPr>
          </a:p>
        </p:txBody>
      </p:sp>
      <p:sp>
        <p:nvSpPr>
          <p:cNvPr id="291" name="TextBox 30"/>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292" name="TextBox 31"/>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09 / 25</a:t>
            </a:r>
            <a:endParaRPr lang="en-US" sz="1000" b="0" u="none" strike="noStrike">
              <a:solidFill>
                <a:srgbClr val="000000"/>
              </a:solidFill>
              <a:effectLst/>
              <a:uFillTx/>
              <a:latin typeface="Arial"/>
            </a:endParaRPr>
          </a:p>
        </p:txBody>
      </p:sp>
    </p:spTree>
  </p:cSld>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293"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294"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295"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Ba cộng đồng trước khi thành dân tộc</a:t>
            </a:r>
            <a:endParaRPr lang="en-US" sz="2800" b="0" u="none" strike="noStrike">
              <a:solidFill>
                <a:srgbClr val="000000"/>
              </a:solidFill>
              <a:effectLst/>
              <a:uFillTx/>
              <a:latin typeface="Arial"/>
            </a:endParaRPr>
          </a:p>
        </p:txBody>
      </p:sp>
      <p:sp>
        <p:nvSpPr>
          <p:cNvPr id="296"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So sánh theo cơ sở liên kết và tổ chức xã hội</a:t>
            </a:r>
            <a:endParaRPr lang="en-US" sz="1500" b="0" u="none" strike="noStrike">
              <a:solidFill>
                <a:srgbClr val="000000"/>
              </a:solidFill>
              <a:effectLst/>
              <a:uFillTx/>
              <a:latin typeface="Arial"/>
            </a:endParaRPr>
          </a:p>
        </p:txBody>
      </p:sp>
      <p:sp>
        <p:nvSpPr>
          <p:cNvPr id="297" name="Rounded Rectangle 5"/>
          <p:cNvSpPr/>
          <p:nvPr/>
        </p:nvSpPr>
        <p:spPr>
          <a:xfrm>
            <a:off x="59436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98"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99" name="TextBox 7"/>
          <p:cNvSpPr/>
          <p:nvPr/>
        </p:nvSpPr>
        <p:spPr>
          <a:xfrm>
            <a:off x="77724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300" name="TextBox 8"/>
          <p:cNvSpPr/>
          <p:nvPr/>
        </p:nvSpPr>
        <p:spPr>
          <a:xfrm>
            <a:off x="77724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THỊ TỘC</a:t>
            </a:r>
            <a:endParaRPr lang="en-US" sz="1700" b="0" u="none" strike="noStrike">
              <a:solidFill>
                <a:srgbClr val="000000"/>
              </a:solidFill>
              <a:effectLst/>
              <a:uFillTx/>
              <a:latin typeface="Arial"/>
            </a:endParaRPr>
          </a:p>
        </p:txBody>
      </p:sp>
      <p:sp>
        <p:nvSpPr>
          <p:cNvPr id="301" name="TextBox 9"/>
          <p:cNvSpPr/>
          <p:nvPr/>
        </p:nvSpPr>
        <p:spPr>
          <a:xfrm>
            <a:off x="77724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600" b="0" u="none" strike="noStrike">
                <a:solidFill>
                  <a:srgbClr val="536B75"/>
                </a:solidFill>
                <a:effectLst/>
                <a:uFillTx/>
                <a:latin typeface="DejaVu Sans"/>
              </a:rPr>
              <a:t>Vài chục đến vài trăm người.</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Sở hữu, lao động chung; hái lượm, săn bắt.</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Hội đồng thị tộc và tộc trưởng.</a:t>
            </a:r>
            <a:endParaRPr lang="en-US" sz="1600" b="0" u="none" strike="noStrike">
              <a:solidFill>
                <a:srgbClr val="000000"/>
              </a:solidFill>
              <a:effectLst/>
              <a:uFillTx/>
              <a:latin typeface="Arial"/>
            </a:endParaRPr>
          </a:p>
        </p:txBody>
      </p:sp>
      <p:sp>
        <p:nvSpPr>
          <p:cNvPr id="302" name="Rounded Rectangle 10"/>
          <p:cNvSpPr/>
          <p:nvPr/>
        </p:nvSpPr>
        <p:spPr>
          <a:xfrm>
            <a:off x="43405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03" name="Rectangle 11"/>
          <p:cNvSpPr/>
          <p:nvPr/>
        </p:nvSpPr>
        <p:spPr>
          <a:xfrm>
            <a:off x="43405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04" name="TextBox 12"/>
          <p:cNvSpPr/>
          <p:nvPr/>
        </p:nvSpPr>
        <p:spPr>
          <a:xfrm>
            <a:off x="45234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305" name="TextBox 13"/>
          <p:cNvSpPr/>
          <p:nvPr/>
        </p:nvSpPr>
        <p:spPr>
          <a:xfrm>
            <a:off x="45234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BỘ LẠC</a:t>
            </a:r>
            <a:endParaRPr lang="en-US" sz="1700" b="0" u="none" strike="noStrike">
              <a:solidFill>
                <a:srgbClr val="000000"/>
              </a:solidFill>
              <a:effectLst/>
              <a:uFillTx/>
              <a:latin typeface="Arial"/>
            </a:endParaRPr>
          </a:p>
        </p:txBody>
      </p:sp>
      <p:sp>
        <p:nvSpPr>
          <p:cNvPr id="306" name="TextBox 14"/>
          <p:cNvSpPr/>
          <p:nvPr/>
        </p:nvSpPr>
        <p:spPr>
          <a:xfrm>
            <a:off x="45234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600" b="0" u="none" strike="noStrike">
                <a:solidFill>
                  <a:srgbClr val="536B75"/>
                </a:solidFill>
                <a:effectLst/>
                <a:uFillTx/>
                <a:latin typeface="DejaVu Sans"/>
              </a:rPr>
              <a:t>Nhiều thị tộc có quan hệ huyết thống hoặc hôn nhân.</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Cư trú rộng hơn; liên kết tự vệ.</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Hội đồng tộc trưởng, thủ lĩnh.</a:t>
            </a:r>
            <a:endParaRPr lang="en-US" sz="1600" b="0" u="none" strike="noStrike">
              <a:solidFill>
                <a:srgbClr val="000000"/>
              </a:solidFill>
              <a:effectLst/>
              <a:uFillTx/>
              <a:latin typeface="Arial"/>
            </a:endParaRPr>
          </a:p>
        </p:txBody>
      </p:sp>
      <p:sp>
        <p:nvSpPr>
          <p:cNvPr id="307" name="Rounded Rectangle 15"/>
          <p:cNvSpPr/>
          <p:nvPr/>
        </p:nvSpPr>
        <p:spPr>
          <a:xfrm>
            <a:off x="80863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08" name="Rectangle 16"/>
          <p:cNvSpPr/>
          <p:nvPr/>
        </p:nvSpPr>
        <p:spPr>
          <a:xfrm>
            <a:off x="80863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09" name="TextBox 17"/>
          <p:cNvSpPr/>
          <p:nvPr/>
        </p:nvSpPr>
        <p:spPr>
          <a:xfrm>
            <a:off x="82692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310" name="TextBox 18"/>
          <p:cNvSpPr/>
          <p:nvPr/>
        </p:nvSpPr>
        <p:spPr>
          <a:xfrm>
            <a:off x="82692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BỘ TỘC</a:t>
            </a:r>
            <a:endParaRPr lang="en-US" sz="1700" b="0" u="none" strike="noStrike">
              <a:solidFill>
                <a:srgbClr val="000000"/>
              </a:solidFill>
              <a:effectLst/>
              <a:uFillTx/>
              <a:latin typeface="Arial"/>
            </a:endParaRPr>
          </a:p>
        </p:txBody>
      </p:sp>
      <p:sp>
        <p:nvSpPr>
          <p:cNvPr id="311" name="TextBox 19"/>
          <p:cNvSpPr/>
          <p:nvPr/>
        </p:nvSpPr>
        <p:spPr>
          <a:xfrm>
            <a:off x="82692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Nhiều bộ lạc, không nhất thiết cùng huyết thống.</a:t>
            </a:r>
            <a:endParaRPr lang="en-US" sz="1500" b="0" u="none" strike="noStrike">
              <a:solidFill>
                <a:srgbClr val="000000"/>
              </a:solidFill>
              <a:effectLst/>
              <a:uFillTx/>
              <a:latin typeface="Arial"/>
            </a:endParaRPr>
          </a:p>
          <a:p>
            <a:pPr defTabSz="457200">
              <a:lnSpc>
                <a:spcPct val="100000"/>
              </a:lnSpc>
              <a:spcAft>
                <a:spcPts val="300"/>
              </a:spcAft>
            </a:pPr>
            <a:r>
              <a:rPr lang="en-US" sz="1500" b="0" u="none" strike="noStrike">
                <a:solidFill>
                  <a:srgbClr val="536B75"/>
                </a:solidFill>
                <a:effectLst/>
                <a:uFillTx/>
                <a:latin typeface="DejaVu Sans"/>
              </a:rPr>
              <a:t>Lãnh thổ tương đối ổn định; có yếu tố ngôn ngữ, văn hóa chung.</a:t>
            </a:r>
            <a:endParaRPr lang="en-US" sz="1500" b="0" u="none" strike="noStrike">
              <a:solidFill>
                <a:srgbClr val="000000"/>
              </a:solidFill>
              <a:effectLst/>
              <a:uFillTx/>
              <a:latin typeface="Arial"/>
            </a:endParaRPr>
          </a:p>
          <a:p>
            <a:pPr defTabSz="457200">
              <a:lnSpc>
                <a:spcPct val="100000"/>
              </a:lnSpc>
              <a:spcAft>
                <a:spcPts val="300"/>
              </a:spcAft>
            </a:pPr>
            <a:r>
              <a:rPr lang="en-US" sz="1500" b="0" u="none" strike="noStrike">
                <a:solidFill>
                  <a:srgbClr val="536B75"/>
                </a:solidFill>
                <a:effectLst/>
                <a:uFillTx/>
                <a:latin typeface="DejaVu Sans"/>
              </a:rPr>
              <a:t>Gắn với phân hóa giai cấp, tư hữu và nhà nước.</a:t>
            </a:r>
            <a:endParaRPr lang="en-US" sz="1500" b="0" u="none" strike="noStrike">
              <a:solidFill>
                <a:srgbClr val="000000"/>
              </a:solidFill>
              <a:effectLst/>
              <a:uFillTx/>
              <a:latin typeface="Arial"/>
            </a:endParaRPr>
          </a:p>
        </p:txBody>
      </p:sp>
      <p:sp>
        <p:nvSpPr>
          <p:cNvPr id="312" name="Rounded Rectangle 20"/>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13"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Khác biệt chính: quy mô mở rộng và cơ sở liên kết vượt dần khỏi huyết thống.</a:t>
            </a:r>
            <a:endParaRPr lang="en-US" sz="1200" b="0" u="none" strike="noStrike">
              <a:solidFill>
                <a:srgbClr val="000000"/>
              </a:solidFill>
              <a:effectLst/>
              <a:uFillTx/>
              <a:latin typeface="Arial"/>
            </a:endParaRPr>
          </a:p>
        </p:txBody>
      </p:sp>
      <p:sp>
        <p:nvSpPr>
          <p:cNvPr id="314"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315"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10 / 25</a:t>
            </a:r>
            <a:endParaRPr lang="en-US" sz="1000" b="0" u="none" strike="noStrike">
              <a:solidFill>
                <a:srgbClr val="000000"/>
              </a:solidFill>
              <a:effectLst/>
              <a:uFillTx/>
              <a:latin typeface="Arial"/>
            </a:endParaRPr>
          </a:p>
        </p:txBody>
      </p:sp>
    </p:spTree>
  </p:cSld>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316"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317"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318"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“Dân tộc” được hiểu theo hai nghĩa</a:t>
            </a:r>
            <a:endParaRPr lang="en-US" sz="2800" b="0" u="none" strike="noStrike">
              <a:solidFill>
                <a:srgbClr val="000000"/>
              </a:solidFill>
              <a:effectLst/>
              <a:uFillTx/>
              <a:latin typeface="Arial"/>
            </a:endParaRPr>
          </a:p>
        </p:txBody>
      </p:sp>
      <p:sp>
        <p:nvSpPr>
          <p:cNvPr id="319"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Luôn xác định nghĩa đang dùng trước khi phân tích</a:t>
            </a:r>
            <a:endParaRPr lang="en-US" sz="1500" b="0" u="none" strike="noStrike">
              <a:solidFill>
                <a:srgbClr val="000000"/>
              </a:solidFill>
              <a:effectLst/>
              <a:uFillTx/>
              <a:latin typeface="Arial"/>
            </a:endParaRPr>
          </a:p>
        </p:txBody>
      </p:sp>
      <p:sp>
        <p:nvSpPr>
          <p:cNvPr id="320" name="Rounded Rectangle 5"/>
          <p:cNvSpPr/>
          <p:nvPr/>
        </p:nvSpPr>
        <p:spPr>
          <a:xfrm>
            <a:off x="594360" y="2697480"/>
            <a:ext cx="539928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21"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22" name="TextBox 7"/>
          <p:cNvSpPr/>
          <p:nvPr/>
        </p:nvSpPr>
        <p:spPr>
          <a:xfrm>
            <a:off x="777240" y="2843640"/>
            <a:ext cx="503352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323" name="TextBox 8"/>
          <p:cNvSpPr/>
          <p:nvPr/>
        </p:nvSpPr>
        <p:spPr>
          <a:xfrm>
            <a:off x="777240" y="3136320"/>
            <a:ext cx="503352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QUỐC GIA – DÂN TỘC</a:t>
            </a:r>
            <a:endParaRPr lang="en-US" sz="1700" b="0" u="none" strike="noStrike">
              <a:solidFill>
                <a:srgbClr val="000000"/>
              </a:solidFill>
              <a:effectLst/>
              <a:uFillTx/>
              <a:latin typeface="Arial"/>
            </a:endParaRPr>
          </a:p>
        </p:txBody>
      </p:sp>
      <p:sp>
        <p:nvSpPr>
          <p:cNvPr id="324" name="TextBox 9"/>
          <p:cNvSpPr/>
          <p:nvPr/>
        </p:nvSpPr>
        <p:spPr>
          <a:xfrm>
            <a:off x="777240" y="3758040"/>
            <a:ext cx="503352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Cộng đồng ở cấp quốc gia.</a:t>
            </a:r>
            <a:endParaRPr lang="en-US" sz="1700" b="0" u="none" strike="noStrike">
              <a:solidFill>
                <a:srgbClr val="000000"/>
              </a:solidFill>
              <a:effectLst/>
              <a:uFillTx/>
              <a:latin typeface="Arial"/>
            </a:endParaRPr>
          </a:p>
          <a:p>
            <a:pPr defTabSz="457200">
              <a:lnSpc>
                <a:spcPct val="100000"/>
              </a:lnSpc>
              <a:spcAft>
                <a:spcPts val="300"/>
              </a:spcAft>
            </a:pPr>
            <a:r>
              <a:rPr lang="en-US" sz="1700" b="0" u="none" strike="noStrike">
                <a:solidFill>
                  <a:srgbClr val="536B75"/>
                </a:solidFill>
                <a:effectLst/>
                <a:uFillTx/>
                <a:latin typeface="DejaVu Sans"/>
              </a:rPr>
              <a:t>Ví dụ trong tài liệu: Việt Nam, Campuchia, Anh, Pháp.</a:t>
            </a:r>
            <a:endParaRPr lang="en-US" sz="1700" b="0" u="none" strike="noStrike">
              <a:solidFill>
                <a:srgbClr val="000000"/>
              </a:solidFill>
              <a:effectLst/>
              <a:uFillTx/>
              <a:latin typeface="Arial"/>
            </a:endParaRPr>
          </a:p>
        </p:txBody>
      </p:sp>
      <p:sp>
        <p:nvSpPr>
          <p:cNvPr id="325" name="Rounded Rectangle 10"/>
          <p:cNvSpPr/>
          <p:nvPr/>
        </p:nvSpPr>
        <p:spPr>
          <a:xfrm>
            <a:off x="6213240" y="2697480"/>
            <a:ext cx="539928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26" name="Rectangle 11"/>
          <p:cNvSpPr/>
          <p:nvPr/>
        </p:nvSpPr>
        <p:spPr>
          <a:xfrm>
            <a:off x="621324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27" name="TextBox 12"/>
          <p:cNvSpPr/>
          <p:nvPr/>
        </p:nvSpPr>
        <p:spPr>
          <a:xfrm>
            <a:off x="6396120" y="2843640"/>
            <a:ext cx="503352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328" name="TextBox 13"/>
          <p:cNvSpPr/>
          <p:nvPr/>
        </p:nvSpPr>
        <p:spPr>
          <a:xfrm>
            <a:off x="6396120" y="3136320"/>
            <a:ext cx="503352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TỘC NGƯỜI</a:t>
            </a:r>
            <a:endParaRPr lang="en-US" sz="1700" b="0" u="none" strike="noStrike">
              <a:solidFill>
                <a:srgbClr val="000000"/>
              </a:solidFill>
              <a:effectLst/>
              <a:uFillTx/>
              <a:latin typeface="Arial"/>
            </a:endParaRPr>
          </a:p>
        </p:txBody>
      </p:sp>
      <p:sp>
        <p:nvSpPr>
          <p:cNvPr id="329" name="TextBox 14"/>
          <p:cNvSpPr/>
          <p:nvPr/>
        </p:nvSpPr>
        <p:spPr>
          <a:xfrm>
            <a:off x="6396120" y="3758040"/>
            <a:ext cx="503352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Cộng đồng đa số hoặc thiểu số trong một quốc gia.</a:t>
            </a:r>
            <a:endParaRPr lang="en-US" sz="1700" b="0" u="none" strike="noStrike">
              <a:solidFill>
                <a:srgbClr val="000000"/>
              </a:solidFill>
              <a:effectLst/>
              <a:uFillTx/>
              <a:latin typeface="Arial"/>
            </a:endParaRPr>
          </a:p>
          <a:p>
            <a:pPr defTabSz="457200">
              <a:lnSpc>
                <a:spcPct val="100000"/>
              </a:lnSpc>
              <a:spcAft>
                <a:spcPts val="300"/>
              </a:spcAft>
            </a:pPr>
            <a:r>
              <a:rPr lang="en-US" sz="1700" b="0" u="none" strike="noStrike">
                <a:solidFill>
                  <a:srgbClr val="536B75"/>
                </a:solidFill>
                <a:effectLst/>
                <a:uFillTx/>
                <a:latin typeface="DejaVu Sans"/>
              </a:rPr>
              <a:t>Ví dụ: Kinh, Tày, Nùng, Hmông, Êđê, Khmer.</a:t>
            </a:r>
            <a:endParaRPr lang="en-US" sz="1700" b="0" u="none" strike="noStrike">
              <a:solidFill>
                <a:srgbClr val="000000"/>
              </a:solidFill>
              <a:effectLst/>
              <a:uFillTx/>
              <a:latin typeface="Arial"/>
            </a:endParaRPr>
          </a:p>
        </p:txBody>
      </p:sp>
      <p:sp>
        <p:nvSpPr>
          <p:cNvPr id="330" name="Rounded Rectangle 15"/>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31" name="TextBox 16"/>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Các slide về nhà nước và pháp luật thống nhất sử dụng nghĩa quốc gia – dân tộc.</a:t>
            </a:r>
            <a:endParaRPr lang="en-US" sz="1200" b="0" u="none" strike="noStrike">
              <a:solidFill>
                <a:srgbClr val="000000"/>
              </a:solidFill>
              <a:effectLst/>
              <a:uFillTx/>
              <a:latin typeface="Arial"/>
            </a:endParaRPr>
          </a:p>
        </p:txBody>
      </p:sp>
      <p:sp>
        <p:nvSpPr>
          <p:cNvPr id="332" name="TextBox 17"/>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333" name="TextBox 18"/>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11 / 25</a:t>
            </a:r>
            <a:endParaRPr lang="en-US" sz="1000" b="0" u="none" strike="noStrike">
              <a:solidFill>
                <a:srgbClr val="000000"/>
              </a:solidFill>
              <a:effectLst/>
              <a:uFillTx/>
              <a:latin typeface="Arial"/>
            </a:endParaRPr>
          </a:p>
        </p:txBody>
      </p:sp>
    </p:spTree>
  </p:cSld>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334"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335"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336"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Năm đặc trưng của quốc gia – dân tộc</a:t>
            </a:r>
            <a:endParaRPr lang="en-US" sz="2800" b="0" u="none" strike="noStrike">
              <a:solidFill>
                <a:srgbClr val="000000"/>
              </a:solidFill>
              <a:effectLst/>
              <a:uFillTx/>
              <a:latin typeface="Arial"/>
            </a:endParaRPr>
          </a:p>
        </p:txBody>
      </p:sp>
      <p:sp>
        <p:nvSpPr>
          <p:cNvPr id="337"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Tài liệu mở rộng bốn nền tảng cộng đồng bằng yếu tố nhà nước – pháp luật</a:t>
            </a:r>
            <a:endParaRPr lang="en-US" sz="1500" b="0" u="none" strike="noStrike">
              <a:solidFill>
                <a:srgbClr val="000000"/>
              </a:solidFill>
              <a:effectLst/>
              <a:uFillTx/>
              <a:latin typeface="Arial"/>
            </a:endParaRPr>
          </a:p>
        </p:txBody>
      </p:sp>
      <p:sp>
        <p:nvSpPr>
          <p:cNvPr id="338" name="Rounded Rectangle 5"/>
          <p:cNvSpPr/>
          <p:nvPr/>
        </p:nvSpPr>
        <p:spPr>
          <a:xfrm>
            <a:off x="658440" y="2670120"/>
            <a:ext cx="2422800" cy="411120"/>
          </a:xfrm>
          <a:prstGeom prst="roundRect">
            <a:avLst>
              <a:gd name="adj" fmla="val 16667"/>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39" name="TextBox 6"/>
          <p:cNvSpPr/>
          <p:nvPr/>
        </p:nvSpPr>
        <p:spPr>
          <a:xfrm>
            <a:off x="795600" y="2706480"/>
            <a:ext cx="2194200" cy="3470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100" b="1" u="none" strike="noStrike">
                <a:solidFill>
                  <a:srgbClr val="FFFFFF"/>
                </a:solidFill>
                <a:effectLst/>
                <a:uFillTx/>
                <a:latin typeface="DejaVu Sans"/>
              </a:rPr>
              <a:t>LÃNH THỔ</a:t>
            </a:r>
            <a:endParaRPr lang="en-US" sz="1100" b="0" u="none" strike="noStrike">
              <a:solidFill>
                <a:srgbClr val="000000"/>
              </a:solidFill>
              <a:effectLst/>
              <a:uFillTx/>
              <a:latin typeface="Arial"/>
            </a:endParaRPr>
          </a:p>
        </p:txBody>
      </p:sp>
      <p:sp>
        <p:nvSpPr>
          <p:cNvPr id="340" name="TextBox 7"/>
          <p:cNvSpPr/>
          <p:nvPr/>
        </p:nvSpPr>
        <p:spPr>
          <a:xfrm>
            <a:off x="3291840" y="2697480"/>
            <a:ext cx="8046360" cy="4384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0" u="none" strike="noStrike">
                <a:solidFill>
                  <a:srgbClr val="173440"/>
                </a:solidFill>
                <a:effectLst/>
                <a:uFillTx/>
                <a:latin typeface="DejaVu Sans"/>
              </a:rPr>
              <a:t>Không gian cư trú thống nhất, ổn định.</a:t>
            </a:r>
            <a:endParaRPr lang="en-US" sz="1700" b="0" u="none" strike="noStrike">
              <a:solidFill>
                <a:srgbClr val="000000"/>
              </a:solidFill>
              <a:effectLst/>
              <a:uFillTx/>
              <a:latin typeface="Arial"/>
            </a:endParaRPr>
          </a:p>
        </p:txBody>
      </p:sp>
      <p:sp>
        <p:nvSpPr>
          <p:cNvPr id="341" name="Rounded Rectangle 8"/>
          <p:cNvSpPr/>
          <p:nvPr/>
        </p:nvSpPr>
        <p:spPr>
          <a:xfrm>
            <a:off x="658440" y="3191400"/>
            <a:ext cx="2422800" cy="411120"/>
          </a:xfrm>
          <a:prstGeom prst="roundRect">
            <a:avLst>
              <a:gd name="adj" fmla="val 16667"/>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2" name="TextBox 9"/>
          <p:cNvSpPr/>
          <p:nvPr/>
        </p:nvSpPr>
        <p:spPr>
          <a:xfrm>
            <a:off x="795600" y="3227760"/>
            <a:ext cx="2194200" cy="3470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100" b="1" u="none" strike="noStrike">
                <a:solidFill>
                  <a:srgbClr val="FFFFFF"/>
                </a:solidFill>
                <a:effectLst/>
                <a:uFillTx/>
                <a:latin typeface="DejaVu Sans"/>
              </a:rPr>
              <a:t>NGÔN NGỮ</a:t>
            </a:r>
            <a:endParaRPr lang="en-US" sz="1100" b="0" u="none" strike="noStrike">
              <a:solidFill>
                <a:srgbClr val="000000"/>
              </a:solidFill>
              <a:effectLst/>
              <a:uFillTx/>
              <a:latin typeface="Arial"/>
            </a:endParaRPr>
          </a:p>
        </p:txBody>
      </p:sp>
      <p:sp>
        <p:nvSpPr>
          <p:cNvPr id="343" name="TextBox 10"/>
          <p:cNvSpPr/>
          <p:nvPr/>
        </p:nvSpPr>
        <p:spPr>
          <a:xfrm>
            <a:off x="3291840" y="3218760"/>
            <a:ext cx="8046360" cy="4384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0" u="none" strike="noStrike">
                <a:solidFill>
                  <a:srgbClr val="173440"/>
                </a:solidFill>
                <a:effectLst/>
                <a:uFillTx/>
                <a:latin typeface="DejaVu Sans"/>
              </a:rPr>
              <a:t>Phương tiện giao tiếp chung của cộng đồng.</a:t>
            </a:r>
            <a:endParaRPr lang="en-US" sz="1700" b="0" u="none" strike="noStrike">
              <a:solidFill>
                <a:srgbClr val="000000"/>
              </a:solidFill>
              <a:effectLst/>
              <a:uFillTx/>
              <a:latin typeface="Arial"/>
            </a:endParaRPr>
          </a:p>
        </p:txBody>
      </p:sp>
      <p:sp>
        <p:nvSpPr>
          <p:cNvPr id="344" name="Rounded Rectangle 11"/>
          <p:cNvSpPr/>
          <p:nvPr/>
        </p:nvSpPr>
        <p:spPr>
          <a:xfrm>
            <a:off x="658440" y="3712320"/>
            <a:ext cx="2422800" cy="411120"/>
          </a:xfrm>
          <a:prstGeom prst="roundRect">
            <a:avLst>
              <a:gd name="adj" fmla="val 16667"/>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5" name="TextBox 12"/>
          <p:cNvSpPr/>
          <p:nvPr/>
        </p:nvSpPr>
        <p:spPr>
          <a:xfrm>
            <a:off x="795600" y="3749040"/>
            <a:ext cx="2194200" cy="3470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100" b="1" u="none" strike="noStrike">
                <a:solidFill>
                  <a:srgbClr val="FFFFFF"/>
                </a:solidFill>
                <a:effectLst/>
                <a:uFillTx/>
                <a:latin typeface="DejaVu Sans"/>
              </a:rPr>
              <a:t>KINH TẾ</a:t>
            </a:r>
            <a:endParaRPr lang="en-US" sz="1100" b="0" u="none" strike="noStrike">
              <a:solidFill>
                <a:srgbClr val="000000"/>
              </a:solidFill>
              <a:effectLst/>
              <a:uFillTx/>
              <a:latin typeface="Arial"/>
            </a:endParaRPr>
          </a:p>
        </p:txBody>
      </p:sp>
      <p:sp>
        <p:nvSpPr>
          <p:cNvPr id="346" name="TextBox 13"/>
          <p:cNvSpPr/>
          <p:nvPr/>
        </p:nvSpPr>
        <p:spPr>
          <a:xfrm>
            <a:off x="3291840" y="3740040"/>
            <a:ext cx="8046360" cy="4384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0" u="none" strike="noStrike">
                <a:solidFill>
                  <a:srgbClr val="173440"/>
                </a:solidFill>
                <a:effectLst/>
                <a:uFillTx/>
                <a:latin typeface="DejaVu Sans"/>
              </a:rPr>
              <a:t>Liên hệ kinh tế thống nhất, gắn kết các vùng.</a:t>
            </a:r>
            <a:endParaRPr lang="en-US" sz="1700" b="0" u="none" strike="noStrike">
              <a:solidFill>
                <a:srgbClr val="000000"/>
              </a:solidFill>
              <a:effectLst/>
              <a:uFillTx/>
              <a:latin typeface="Arial"/>
            </a:endParaRPr>
          </a:p>
        </p:txBody>
      </p:sp>
      <p:sp>
        <p:nvSpPr>
          <p:cNvPr id="347" name="Rounded Rectangle 14"/>
          <p:cNvSpPr/>
          <p:nvPr/>
        </p:nvSpPr>
        <p:spPr>
          <a:xfrm>
            <a:off x="658440" y="4233600"/>
            <a:ext cx="2422800" cy="411120"/>
          </a:xfrm>
          <a:prstGeom prst="roundRect">
            <a:avLst>
              <a:gd name="adj" fmla="val 16667"/>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8" name="TextBox 15"/>
          <p:cNvSpPr/>
          <p:nvPr/>
        </p:nvSpPr>
        <p:spPr>
          <a:xfrm>
            <a:off x="795600" y="4270320"/>
            <a:ext cx="2194200" cy="3470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100" b="1" u="none" strike="noStrike">
                <a:solidFill>
                  <a:srgbClr val="FFFFFF"/>
                </a:solidFill>
                <a:effectLst/>
                <a:uFillTx/>
                <a:latin typeface="DejaVu Sans"/>
              </a:rPr>
              <a:t>VĂN HÓA – TÂM LÝ</a:t>
            </a:r>
            <a:endParaRPr lang="en-US" sz="1100" b="0" u="none" strike="noStrike">
              <a:solidFill>
                <a:srgbClr val="000000"/>
              </a:solidFill>
              <a:effectLst/>
              <a:uFillTx/>
              <a:latin typeface="Arial"/>
            </a:endParaRPr>
          </a:p>
        </p:txBody>
      </p:sp>
      <p:sp>
        <p:nvSpPr>
          <p:cNvPr id="349" name="TextBox 16"/>
          <p:cNvSpPr/>
          <p:nvPr/>
        </p:nvSpPr>
        <p:spPr>
          <a:xfrm>
            <a:off x="3291840" y="4260960"/>
            <a:ext cx="8046360" cy="4384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0" u="none" strike="noStrike">
                <a:solidFill>
                  <a:srgbClr val="173440"/>
                </a:solidFill>
                <a:effectLst/>
                <a:uFillTx/>
                <a:latin typeface="DejaVu Sans"/>
              </a:rPr>
              <a:t>Giá trị, bản sắc và sự gắn bó bền vững.</a:t>
            </a:r>
            <a:endParaRPr lang="en-US" sz="1700" b="0" u="none" strike="noStrike">
              <a:solidFill>
                <a:srgbClr val="000000"/>
              </a:solidFill>
              <a:effectLst/>
              <a:uFillTx/>
              <a:latin typeface="Arial"/>
            </a:endParaRPr>
          </a:p>
        </p:txBody>
      </p:sp>
      <p:sp>
        <p:nvSpPr>
          <p:cNvPr id="350" name="Rounded Rectangle 17"/>
          <p:cNvSpPr/>
          <p:nvPr/>
        </p:nvSpPr>
        <p:spPr>
          <a:xfrm>
            <a:off x="658440" y="4754880"/>
            <a:ext cx="2422800" cy="411120"/>
          </a:xfrm>
          <a:prstGeom prst="roundRect">
            <a:avLst>
              <a:gd name="adj" fmla="val 16667"/>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51" name="TextBox 18"/>
          <p:cNvSpPr/>
          <p:nvPr/>
        </p:nvSpPr>
        <p:spPr>
          <a:xfrm>
            <a:off x="795600" y="4791600"/>
            <a:ext cx="2194200" cy="3470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100" b="1" u="none" strike="noStrike">
                <a:solidFill>
                  <a:srgbClr val="FFFFFF"/>
                </a:solidFill>
                <a:effectLst/>
                <a:uFillTx/>
                <a:latin typeface="DejaVu Sans"/>
              </a:rPr>
              <a:t>NHÀ NƯỚC – PHÁP LUẬT</a:t>
            </a:r>
            <a:endParaRPr lang="en-US" sz="1100" b="0" u="none" strike="noStrike">
              <a:solidFill>
                <a:srgbClr val="000000"/>
              </a:solidFill>
              <a:effectLst/>
              <a:uFillTx/>
              <a:latin typeface="Arial"/>
            </a:endParaRPr>
          </a:p>
        </p:txBody>
      </p:sp>
      <p:sp>
        <p:nvSpPr>
          <p:cNvPr id="352" name="TextBox 19"/>
          <p:cNvSpPr/>
          <p:nvPr/>
        </p:nvSpPr>
        <p:spPr>
          <a:xfrm>
            <a:off x="3291840" y="4782240"/>
            <a:ext cx="8046360" cy="4384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0" u="none" strike="noStrike">
                <a:solidFill>
                  <a:srgbClr val="173440"/>
                </a:solidFill>
                <a:effectLst/>
                <a:uFillTx/>
                <a:latin typeface="DejaVu Sans"/>
              </a:rPr>
              <a:t>Tổ chức và khuôn khổ chính trị thống nhất.</a:t>
            </a:r>
            <a:endParaRPr lang="en-US" sz="1700" b="0" u="none" strike="noStrike">
              <a:solidFill>
                <a:srgbClr val="000000"/>
              </a:solidFill>
              <a:effectLst/>
              <a:uFillTx/>
              <a:latin typeface="Arial"/>
            </a:endParaRPr>
          </a:p>
        </p:txBody>
      </p:sp>
      <p:sp>
        <p:nvSpPr>
          <p:cNvPr id="353" name="Rounded Rectangle 20"/>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54"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Bốn nền tảng ban đầu + yếu tố chính trị ở phần sau: hai mức trình bày trong bản gốc.</a:t>
            </a:r>
            <a:endParaRPr lang="en-US" sz="1200" b="0" u="none" strike="noStrike">
              <a:solidFill>
                <a:srgbClr val="000000"/>
              </a:solidFill>
              <a:effectLst/>
              <a:uFillTx/>
              <a:latin typeface="Arial"/>
            </a:endParaRPr>
          </a:p>
        </p:txBody>
      </p:sp>
      <p:sp>
        <p:nvSpPr>
          <p:cNvPr id="355"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356"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12 / 25</a:t>
            </a:r>
            <a:endParaRPr lang="en-US" sz="1000" b="0" u="none" strike="noStrike">
              <a:solidFill>
                <a:srgbClr val="000000"/>
              </a:solidFill>
              <a:effectLst/>
              <a:uFillTx/>
              <a:latin typeface="Arial"/>
            </a:endParaRPr>
          </a:p>
        </p:txBody>
      </p:sp>
    </p:spTree>
  </p:cSld>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357"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358"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359"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Châu Âu: hai con đường hình thành</a:t>
            </a:r>
            <a:endParaRPr lang="en-US" sz="2800" b="0" u="none" strike="noStrike">
              <a:solidFill>
                <a:srgbClr val="000000"/>
              </a:solidFill>
              <a:effectLst/>
              <a:uFillTx/>
              <a:latin typeface="Arial"/>
            </a:endParaRPr>
          </a:p>
        </p:txBody>
      </p:sp>
      <p:sp>
        <p:nvSpPr>
          <p:cNvPr id="360"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Khái quát theo tài liệu • gắn với sự phát triển của chủ nghĩa tư bản</a:t>
            </a:r>
            <a:endParaRPr lang="en-US" sz="1500" b="0" u="none" strike="noStrike">
              <a:solidFill>
                <a:srgbClr val="000000"/>
              </a:solidFill>
              <a:effectLst/>
              <a:uFillTx/>
              <a:latin typeface="Arial"/>
            </a:endParaRPr>
          </a:p>
        </p:txBody>
      </p:sp>
      <p:sp>
        <p:nvSpPr>
          <p:cNvPr id="361" name="Rounded Rectangle 5"/>
          <p:cNvSpPr/>
          <p:nvPr/>
        </p:nvSpPr>
        <p:spPr>
          <a:xfrm>
            <a:off x="594360" y="2697480"/>
            <a:ext cx="539928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62"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63" name="TextBox 7"/>
          <p:cNvSpPr/>
          <p:nvPr/>
        </p:nvSpPr>
        <p:spPr>
          <a:xfrm>
            <a:off x="777240" y="2843640"/>
            <a:ext cx="503352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364" name="TextBox 8"/>
          <p:cNvSpPr/>
          <p:nvPr/>
        </p:nvSpPr>
        <p:spPr>
          <a:xfrm>
            <a:off x="777240" y="3136320"/>
            <a:ext cx="503352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CON ĐƯỜNG 1 • HÒA NHẬP</a:t>
            </a:r>
            <a:endParaRPr lang="en-US" sz="1700" b="0" u="none" strike="noStrike">
              <a:solidFill>
                <a:srgbClr val="000000"/>
              </a:solidFill>
              <a:effectLst/>
              <a:uFillTx/>
              <a:latin typeface="Arial"/>
            </a:endParaRPr>
          </a:p>
        </p:txBody>
      </p:sp>
      <p:sp>
        <p:nvSpPr>
          <p:cNvPr id="365" name="TextBox 9"/>
          <p:cNvSpPr/>
          <p:nvPr/>
        </p:nvSpPr>
        <p:spPr>
          <a:xfrm>
            <a:off x="777240" y="3758040"/>
            <a:ext cx="503352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600" b="0" u="none" strike="noStrike">
                <a:solidFill>
                  <a:srgbClr val="536B75"/>
                </a:solidFill>
                <a:effectLst/>
                <a:uFillTx/>
                <a:latin typeface="DejaVu Sans"/>
              </a:rPr>
              <a:t>Thống nhất lãnh thổ, thị trường; hòa nhập nhiều bộ tộc.</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Hình thành quốc gia dân tộc độc lập.</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Ví dụ tài liệu: Đức, Ý, Pháp.</a:t>
            </a:r>
            <a:endParaRPr lang="en-US" sz="1600" b="0" u="none" strike="noStrike">
              <a:solidFill>
                <a:srgbClr val="000000"/>
              </a:solidFill>
              <a:effectLst/>
              <a:uFillTx/>
              <a:latin typeface="Arial"/>
            </a:endParaRPr>
          </a:p>
        </p:txBody>
      </p:sp>
      <p:sp>
        <p:nvSpPr>
          <p:cNvPr id="366" name="Rounded Rectangle 10"/>
          <p:cNvSpPr/>
          <p:nvPr/>
        </p:nvSpPr>
        <p:spPr>
          <a:xfrm>
            <a:off x="6213240" y="2697480"/>
            <a:ext cx="539928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67" name="Rectangle 11"/>
          <p:cNvSpPr/>
          <p:nvPr/>
        </p:nvSpPr>
        <p:spPr>
          <a:xfrm>
            <a:off x="621324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68" name="TextBox 12"/>
          <p:cNvSpPr/>
          <p:nvPr/>
        </p:nvSpPr>
        <p:spPr>
          <a:xfrm>
            <a:off x="6396120" y="2843640"/>
            <a:ext cx="503352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369" name="TextBox 13"/>
          <p:cNvSpPr/>
          <p:nvPr/>
        </p:nvSpPr>
        <p:spPr>
          <a:xfrm>
            <a:off x="6396120" y="3136320"/>
            <a:ext cx="503352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CON ĐƯỜNG 2 • ĐA DÂN TỘC</a:t>
            </a:r>
            <a:endParaRPr lang="en-US" sz="1700" b="0" u="none" strike="noStrike">
              <a:solidFill>
                <a:srgbClr val="000000"/>
              </a:solidFill>
              <a:effectLst/>
              <a:uFillTx/>
              <a:latin typeface="Arial"/>
            </a:endParaRPr>
          </a:p>
        </p:txBody>
      </p:sp>
      <p:sp>
        <p:nvSpPr>
          <p:cNvPr id="370" name="TextBox 14"/>
          <p:cNvSpPr/>
          <p:nvPr/>
        </p:nvSpPr>
        <p:spPr>
          <a:xfrm>
            <a:off x="6396120" y="3758040"/>
            <a:ext cx="503352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600" b="0" u="none" strike="noStrike">
                <a:solidFill>
                  <a:srgbClr val="536B75"/>
                </a:solidFill>
                <a:effectLst/>
                <a:uFillTx/>
                <a:latin typeface="DejaVu Sans"/>
              </a:rPr>
              <a:t>Tư bản phát triển khi tàn dư phong kiến còn tồn tại.</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Các cộng đồng giữ nguồn gốc riêng trong quốc gia đa dân tộc.</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Ví dụ tài liệu: Nga, Áo, Hungary.</a:t>
            </a:r>
            <a:endParaRPr lang="en-US" sz="1600" b="0" u="none" strike="noStrike">
              <a:solidFill>
                <a:srgbClr val="000000"/>
              </a:solidFill>
              <a:effectLst/>
              <a:uFillTx/>
              <a:latin typeface="Arial"/>
            </a:endParaRPr>
          </a:p>
        </p:txBody>
      </p:sp>
      <p:sp>
        <p:nvSpPr>
          <p:cNvPr id="371" name="Rounded Rectangle 15"/>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72" name="TextBox 16"/>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Bối cảnh rộng hơn: cách mạng tư sản, giải phóng dân tộc và sự hình thành các dân tộc XHCN.</a:t>
            </a:r>
            <a:endParaRPr lang="en-US" sz="1200" b="0" u="none" strike="noStrike">
              <a:solidFill>
                <a:srgbClr val="000000"/>
              </a:solidFill>
              <a:effectLst/>
              <a:uFillTx/>
              <a:latin typeface="Arial"/>
            </a:endParaRPr>
          </a:p>
        </p:txBody>
      </p:sp>
      <p:sp>
        <p:nvSpPr>
          <p:cNvPr id="373" name="TextBox 17"/>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374" name="TextBox 18"/>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13 / 25</a:t>
            </a:r>
            <a:endParaRPr lang="en-US" sz="1000" b="0" u="none" strike="noStrike">
              <a:solidFill>
                <a:srgbClr val="000000"/>
              </a:solidFill>
              <a:effectLst/>
              <a:uFillTx/>
              <a:latin typeface="Arial"/>
            </a:endParaRPr>
          </a:p>
        </p:txBody>
      </p:sp>
    </p:spTree>
  </p:cSld>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375"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376"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377"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Phương Đông và nét riêng của Việt Nam</a:t>
            </a:r>
            <a:endParaRPr lang="en-US" sz="2800" b="0" u="none" strike="noStrike">
              <a:solidFill>
                <a:srgbClr val="000000"/>
              </a:solidFill>
              <a:effectLst/>
              <a:uFillTx/>
              <a:latin typeface="Arial"/>
            </a:endParaRPr>
          </a:p>
        </p:txBody>
      </p:sp>
      <p:sp>
        <p:nvSpPr>
          <p:cNvPr id="378"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Hình thành sớm, không đồng nhất với thời điểm ra đời chủ nghĩa tư bản</a:t>
            </a:r>
            <a:endParaRPr lang="en-US" sz="1500" b="0" u="none" strike="noStrike">
              <a:solidFill>
                <a:srgbClr val="000000"/>
              </a:solidFill>
              <a:effectLst/>
              <a:uFillTx/>
              <a:latin typeface="Arial"/>
            </a:endParaRPr>
          </a:p>
        </p:txBody>
      </p:sp>
      <p:sp>
        <p:nvSpPr>
          <p:cNvPr id="379" name="Rounded Rectangle 5"/>
          <p:cNvSpPr/>
          <p:nvPr/>
        </p:nvSpPr>
        <p:spPr>
          <a:xfrm>
            <a:off x="594360" y="2697480"/>
            <a:ext cx="539928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80"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81" name="TextBox 7"/>
          <p:cNvSpPr/>
          <p:nvPr/>
        </p:nvSpPr>
        <p:spPr>
          <a:xfrm>
            <a:off x="777240" y="2843640"/>
            <a:ext cx="503352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382" name="TextBox 8"/>
          <p:cNvSpPr/>
          <p:nvPr/>
        </p:nvSpPr>
        <p:spPr>
          <a:xfrm>
            <a:off x="777240" y="3136320"/>
            <a:ext cx="503352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PHƯƠNG ĐÔNG</a:t>
            </a:r>
            <a:endParaRPr lang="en-US" sz="1700" b="0" u="none" strike="noStrike">
              <a:solidFill>
                <a:srgbClr val="000000"/>
              </a:solidFill>
              <a:effectLst/>
              <a:uFillTx/>
              <a:latin typeface="Arial"/>
            </a:endParaRPr>
          </a:p>
        </p:txBody>
      </p:sp>
      <p:sp>
        <p:nvSpPr>
          <p:cNvPr id="383" name="TextBox 9"/>
          <p:cNvSpPr/>
          <p:nvPr/>
        </p:nvSpPr>
        <p:spPr>
          <a:xfrm>
            <a:off x="777240" y="3758040"/>
            <a:ext cx="503352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Theo tài liệu: nhu cầu trị thủy, liên kết cộng đồng và chống ngoại xâm thúc đẩy sự hình thành sớm.</a:t>
            </a:r>
            <a:endParaRPr lang="en-US" sz="1700" b="0" u="none" strike="noStrike">
              <a:solidFill>
                <a:srgbClr val="000000"/>
              </a:solidFill>
              <a:effectLst/>
              <a:uFillTx/>
              <a:latin typeface="Arial"/>
            </a:endParaRPr>
          </a:p>
        </p:txBody>
      </p:sp>
      <p:sp>
        <p:nvSpPr>
          <p:cNvPr id="384" name="Rounded Rectangle 10"/>
          <p:cNvSpPr/>
          <p:nvPr/>
        </p:nvSpPr>
        <p:spPr>
          <a:xfrm>
            <a:off x="6213240" y="2697480"/>
            <a:ext cx="539928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85" name="Rectangle 11"/>
          <p:cNvSpPr/>
          <p:nvPr/>
        </p:nvSpPr>
        <p:spPr>
          <a:xfrm>
            <a:off x="621324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86" name="TextBox 12"/>
          <p:cNvSpPr/>
          <p:nvPr/>
        </p:nvSpPr>
        <p:spPr>
          <a:xfrm>
            <a:off x="6396120" y="2843640"/>
            <a:ext cx="503352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387" name="TextBox 13"/>
          <p:cNvSpPr/>
          <p:nvPr/>
        </p:nvSpPr>
        <p:spPr>
          <a:xfrm>
            <a:off x="6396120" y="3136320"/>
            <a:ext cx="503352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VIỆT NAM</a:t>
            </a:r>
            <a:endParaRPr lang="en-US" sz="1700" b="0" u="none" strike="noStrike">
              <a:solidFill>
                <a:srgbClr val="000000"/>
              </a:solidFill>
              <a:effectLst/>
              <a:uFillTx/>
              <a:latin typeface="Arial"/>
            </a:endParaRPr>
          </a:p>
        </p:txBody>
      </p:sp>
      <p:sp>
        <p:nvSpPr>
          <p:cNvPr id="388" name="TextBox 14"/>
          <p:cNvSpPr/>
          <p:nvPr/>
        </p:nvSpPr>
        <p:spPr>
          <a:xfrm>
            <a:off x="6396120" y="3758040"/>
            <a:ext cx="503352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600" b="0" u="none" strike="noStrike">
                <a:solidFill>
                  <a:srgbClr val="536B75"/>
                </a:solidFill>
                <a:effectLst/>
                <a:uFillTx/>
                <a:latin typeface="DejaVu Sans"/>
              </a:rPr>
              <a:t>Dựng nước, giữ nước; bảo tồn tiếng nói, phong tục và văn hóa.</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Gắn kết lãnh thổ, kinh tế, nhà nước và pháp luật.</a:t>
            </a:r>
            <a:endParaRPr lang="en-US" sz="1600" b="0" u="none" strike="noStrike">
              <a:solidFill>
                <a:srgbClr val="000000"/>
              </a:solidFill>
              <a:effectLst/>
              <a:uFillTx/>
              <a:latin typeface="Arial"/>
            </a:endParaRPr>
          </a:p>
        </p:txBody>
      </p:sp>
      <p:sp>
        <p:nvSpPr>
          <p:cNvPr id="389" name="Rounded Rectangle 15"/>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90" name="TextBox 16"/>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Việt Nam: truyền thống cộng đồng gắn với quá trình dựng nước và giữ nước.</a:t>
            </a:r>
            <a:endParaRPr lang="en-US" sz="1200" b="0" u="none" strike="noStrike">
              <a:solidFill>
                <a:srgbClr val="000000"/>
              </a:solidFill>
              <a:effectLst/>
              <a:uFillTx/>
              <a:latin typeface="Arial"/>
            </a:endParaRPr>
          </a:p>
        </p:txBody>
      </p:sp>
      <p:sp>
        <p:nvSpPr>
          <p:cNvPr id="391" name="TextBox 17"/>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392" name="TextBox 18"/>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14 / 25</a:t>
            </a:r>
            <a:endParaRPr lang="en-US" sz="1000" b="0" u="none" strike="noStrike">
              <a:solidFill>
                <a:srgbClr val="000000"/>
              </a:solidFill>
              <a:effectLst/>
              <a:uFillTx/>
              <a:latin typeface="Arial"/>
            </a:endParaRPr>
          </a:p>
        </p:txBody>
      </p:sp>
    </p:spTree>
  </p:cSld>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393"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394"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395"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Giai cấp vô sản: từ lợi ích đến đấu tranh</a:t>
            </a:r>
            <a:endParaRPr lang="en-US" sz="2800" b="0" u="none" strike="noStrike">
              <a:solidFill>
                <a:srgbClr val="000000"/>
              </a:solidFill>
              <a:effectLst/>
              <a:uFillTx/>
              <a:latin typeface="Arial"/>
            </a:endParaRPr>
          </a:p>
        </p:txBody>
      </p:sp>
      <p:sp>
        <p:nvSpPr>
          <p:cNvPr id="396"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Nội dung tiếp nối theo đúng vị trí trong tài liệu gốc</a:t>
            </a:r>
            <a:endParaRPr lang="en-US" sz="1500" b="0" u="none" strike="noStrike">
              <a:solidFill>
                <a:srgbClr val="000000"/>
              </a:solidFill>
              <a:effectLst/>
              <a:uFillTx/>
              <a:latin typeface="Arial"/>
            </a:endParaRPr>
          </a:p>
        </p:txBody>
      </p:sp>
      <p:sp>
        <p:nvSpPr>
          <p:cNvPr id="397" name="Rounded Rectangle 5"/>
          <p:cNvSpPr/>
          <p:nvPr/>
        </p:nvSpPr>
        <p:spPr>
          <a:xfrm>
            <a:off x="59436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98"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99" name="TextBox 7"/>
          <p:cNvSpPr/>
          <p:nvPr/>
        </p:nvSpPr>
        <p:spPr>
          <a:xfrm>
            <a:off x="77724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400" name="TextBox 8"/>
          <p:cNvSpPr/>
          <p:nvPr/>
        </p:nvSpPr>
        <p:spPr>
          <a:xfrm>
            <a:off x="77724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CHỦ THỂ</a:t>
            </a:r>
            <a:endParaRPr lang="en-US" sz="1700" b="0" u="none" strike="noStrike">
              <a:solidFill>
                <a:srgbClr val="000000"/>
              </a:solidFill>
              <a:effectLst/>
              <a:uFillTx/>
              <a:latin typeface="Arial"/>
            </a:endParaRPr>
          </a:p>
        </p:txBody>
      </p:sp>
      <p:sp>
        <p:nvSpPr>
          <p:cNvPr id="401" name="TextBox 9"/>
          <p:cNvSpPr/>
          <p:nvPr/>
        </p:nvSpPr>
        <p:spPr>
          <a:xfrm>
            <a:off x="77724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Những người lao động làm thuê trong quan hệ với giai cấp tư sản.</a:t>
            </a:r>
            <a:endParaRPr lang="en-US" sz="1700" b="0" u="none" strike="noStrike">
              <a:solidFill>
                <a:srgbClr val="000000"/>
              </a:solidFill>
              <a:effectLst/>
              <a:uFillTx/>
              <a:latin typeface="Arial"/>
            </a:endParaRPr>
          </a:p>
        </p:txBody>
      </p:sp>
      <p:sp>
        <p:nvSpPr>
          <p:cNvPr id="402" name="Rounded Rectangle 10"/>
          <p:cNvSpPr/>
          <p:nvPr/>
        </p:nvSpPr>
        <p:spPr>
          <a:xfrm>
            <a:off x="43405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03" name="Rectangle 11"/>
          <p:cNvSpPr/>
          <p:nvPr/>
        </p:nvSpPr>
        <p:spPr>
          <a:xfrm>
            <a:off x="43405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04" name="TextBox 12"/>
          <p:cNvSpPr/>
          <p:nvPr/>
        </p:nvSpPr>
        <p:spPr>
          <a:xfrm>
            <a:off x="45234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405" name="TextBox 13"/>
          <p:cNvSpPr/>
          <p:nvPr/>
        </p:nvSpPr>
        <p:spPr>
          <a:xfrm>
            <a:off x="45234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MÂU THUẪN</a:t>
            </a:r>
            <a:endParaRPr lang="en-US" sz="1700" b="0" u="none" strike="noStrike">
              <a:solidFill>
                <a:srgbClr val="000000"/>
              </a:solidFill>
              <a:effectLst/>
              <a:uFillTx/>
              <a:latin typeface="Arial"/>
            </a:endParaRPr>
          </a:p>
        </p:txBody>
      </p:sp>
      <p:sp>
        <p:nvSpPr>
          <p:cNvPr id="406" name="TextBox 14"/>
          <p:cNvSpPr/>
          <p:nvPr/>
        </p:nvSpPr>
        <p:spPr>
          <a:xfrm>
            <a:off x="45234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Lợi ích kinh tế, chính trị và địa vị xã hội đối lập.</a:t>
            </a:r>
            <a:endParaRPr lang="en-US" sz="1700" b="0" u="none" strike="noStrike">
              <a:solidFill>
                <a:srgbClr val="000000"/>
              </a:solidFill>
              <a:effectLst/>
              <a:uFillTx/>
              <a:latin typeface="Arial"/>
            </a:endParaRPr>
          </a:p>
        </p:txBody>
      </p:sp>
      <p:sp>
        <p:nvSpPr>
          <p:cNvPr id="407" name="Rounded Rectangle 15"/>
          <p:cNvSpPr/>
          <p:nvPr/>
        </p:nvSpPr>
        <p:spPr>
          <a:xfrm>
            <a:off x="80863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08" name="Rectangle 16"/>
          <p:cNvSpPr/>
          <p:nvPr/>
        </p:nvSpPr>
        <p:spPr>
          <a:xfrm>
            <a:off x="80863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09" name="TextBox 17"/>
          <p:cNvSpPr/>
          <p:nvPr/>
        </p:nvSpPr>
        <p:spPr>
          <a:xfrm>
            <a:off x="82692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410" name="TextBox 18"/>
          <p:cNvSpPr/>
          <p:nvPr/>
        </p:nvSpPr>
        <p:spPr>
          <a:xfrm>
            <a:off x="82692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MỤC TIÊU</a:t>
            </a:r>
            <a:endParaRPr lang="en-US" sz="1700" b="0" u="none" strike="noStrike">
              <a:solidFill>
                <a:srgbClr val="000000"/>
              </a:solidFill>
              <a:effectLst/>
              <a:uFillTx/>
              <a:latin typeface="Arial"/>
            </a:endParaRPr>
          </a:p>
        </p:txBody>
      </p:sp>
      <p:sp>
        <p:nvSpPr>
          <p:cNvPr id="411" name="TextBox 19"/>
          <p:cNvSpPr/>
          <p:nvPr/>
        </p:nvSpPr>
        <p:spPr>
          <a:xfrm>
            <a:off x="82692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Chống áp bức; bảo vệ quyền lợi; hướng tới xây dựng chủ nghĩa xã hội.</a:t>
            </a:r>
            <a:endParaRPr lang="en-US" sz="1700" b="0" u="none" strike="noStrike">
              <a:solidFill>
                <a:srgbClr val="000000"/>
              </a:solidFill>
              <a:effectLst/>
              <a:uFillTx/>
              <a:latin typeface="Arial"/>
            </a:endParaRPr>
          </a:p>
        </p:txBody>
      </p:sp>
      <p:sp>
        <p:nvSpPr>
          <p:cNvPr id="412" name="Rounded Rectangle 20"/>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13"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Giá trị thặng dư: phần giá trị mới do lao động tạo ra vượt giá trị sức lao động. [Làm rõ thuật ngữ]</a:t>
            </a:r>
            <a:endParaRPr lang="en-US" sz="1200" b="0" u="none" strike="noStrike">
              <a:solidFill>
                <a:srgbClr val="000000"/>
              </a:solidFill>
              <a:effectLst/>
              <a:uFillTx/>
              <a:latin typeface="Arial"/>
            </a:endParaRPr>
          </a:p>
        </p:txBody>
      </p:sp>
      <p:sp>
        <p:nvSpPr>
          <p:cNvPr id="414"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415"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15 / 25</a:t>
            </a:r>
            <a:endParaRPr lang="en-US" sz="1000" b="0" u="none" strike="noStrike">
              <a:solidFill>
                <a:srgbClr val="000000"/>
              </a:solidFill>
              <a:effectLst/>
              <a:uFillTx/>
              <a:latin typeface="Arial"/>
            </a:endParaRPr>
          </a:p>
        </p:txBody>
      </p:sp>
    </p:spTree>
  </p:cSld>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416"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417"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418"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Ba hình thức trước khi giành chính quyền</a:t>
            </a:r>
            <a:endParaRPr lang="en-US" sz="2800" b="0" u="none" strike="noStrike">
              <a:solidFill>
                <a:srgbClr val="000000"/>
              </a:solidFill>
              <a:effectLst/>
              <a:uFillTx/>
              <a:latin typeface="Arial"/>
            </a:endParaRPr>
          </a:p>
        </p:txBody>
      </p:sp>
      <p:sp>
        <p:nvSpPr>
          <p:cNvPr id="419"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Các hình thức hỗ trợ nhau, nhưng có vai trò khác nhau</a:t>
            </a:r>
            <a:endParaRPr lang="en-US" sz="1500" b="0" u="none" strike="noStrike">
              <a:solidFill>
                <a:srgbClr val="000000"/>
              </a:solidFill>
              <a:effectLst/>
              <a:uFillTx/>
              <a:latin typeface="Arial"/>
            </a:endParaRPr>
          </a:p>
        </p:txBody>
      </p:sp>
      <p:sp>
        <p:nvSpPr>
          <p:cNvPr id="420" name="Rounded Rectangle 5"/>
          <p:cNvSpPr/>
          <p:nvPr/>
        </p:nvSpPr>
        <p:spPr>
          <a:xfrm>
            <a:off x="59436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21"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22" name="TextBox 7"/>
          <p:cNvSpPr/>
          <p:nvPr/>
        </p:nvSpPr>
        <p:spPr>
          <a:xfrm>
            <a:off x="77724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423" name="TextBox 8"/>
          <p:cNvSpPr/>
          <p:nvPr/>
        </p:nvSpPr>
        <p:spPr>
          <a:xfrm>
            <a:off x="77724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KINH TẾ</a:t>
            </a:r>
            <a:endParaRPr lang="en-US" sz="1700" b="0" u="none" strike="noStrike">
              <a:solidFill>
                <a:srgbClr val="000000"/>
              </a:solidFill>
              <a:effectLst/>
              <a:uFillTx/>
              <a:latin typeface="Arial"/>
            </a:endParaRPr>
          </a:p>
        </p:txBody>
      </p:sp>
      <p:sp>
        <p:nvSpPr>
          <p:cNvPr id="424" name="TextBox 9"/>
          <p:cNvSpPr/>
          <p:nvPr/>
        </p:nvSpPr>
        <p:spPr>
          <a:xfrm>
            <a:off x="77724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600" b="0" u="none" strike="noStrike">
                <a:solidFill>
                  <a:srgbClr val="536B75"/>
                </a:solidFill>
                <a:effectLst/>
                <a:uFillTx/>
                <a:latin typeface="DejaVu Sans"/>
              </a:rPr>
              <a:t>Mục tiêu: lương, giờ làm, quyền lợi trước mắt.</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Cách thức: thương lượng, kiến nghị, tổ chức đại diện.</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Ý nghĩa: tập hợp, nâng nhận thức lợi ích chung.</a:t>
            </a:r>
            <a:endParaRPr lang="en-US" sz="1600" b="0" u="none" strike="noStrike">
              <a:solidFill>
                <a:srgbClr val="000000"/>
              </a:solidFill>
              <a:effectLst/>
              <a:uFillTx/>
              <a:latin typeface="Arial"/>
            </a:endParaRPr>
          </a:p>
        </p:txBody>
      </p:sp>
      <p:sp>
        <p:nvSpPr>
          <p:cNvPr id="425" name="Rounded Rectangle 10"/>
          <p:cNvSpPr/>
          <p:nvPr/>
        </p:nvSpPr>
        <p:spPr>
          <a:xfrm>
            <a:off x="43405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26" name="Rectangle 11"/>
          <p:cNvSpPr/>
          <p:nvPr/>
        </p:nvSpPr>
        <p:spPr>
          <a:xfrm>
            <a:off x="43405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27" name="TextBox 12"/>
          <p:cNvSpPr/>
          <p:nvPr/>
        </p:nvSpPr>
        <p:spPr>
          <a:xfrm>
            <a:off x="45234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428" name="TextBox 13"/>
          <p:cNvSpPr/>
          <p:nvPr/>
        </p:nvSpPr>
        <p:spPr>
          <a:xfrm>
            <a:off x="45234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CHÍNH TRỊ</a:t>
            </a:r>
            <a:endParaRPr lang="en-US" sz="1700" b="0" u="none" strike="noStrike">
              <a:solidFill>
                <a:srgbClr val="000000"/>
              </a:solidFill>
              <a:effectLst/>
              <a:uFillTx/>
              <a:latin typeface="Arial"/>
            </a:endParaRPr>
          </a:p>
        </p:txBody>
      </p:sp>
      <p:sp>
        <p:nvSpPr>
          <p:cNvPr id="429" name="TextBox 14"/>
          <p:cNvSpPr/>
          <p:nvPr/>
        </p:nvSpPr>
        <p:spPr>
          <a:xfrm>
            <a:off x="45234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Mục tiêu: quyền lực nhà nước, thay đổi địa vị chính trị.</a:t>
            </a:r>
            <a:endParaRPr lang="en-US" sz="1500" b="0" u="none" strike="noStrike">
              <a:solidFill>
                <a:srgbClr val="000000"/>
              </a:solidFill>
              <a:effectLst/>
              <a:uFillTx/>
              <a:latin typeface="Arial"/>
            </a:endParaRPr>
          </a:p>
          <a:p>
            <a:pPr defTabSz="457200">
              <a:lnSpc>
                <a:spcPct val="100000"/>
              </a:lnSpc>
              <a:spcAft>
                <a:spcPts val="300"/>
              </a:spcAft>
            </a:pPr>
            <a:r>
              <a:rPr lang="en-US" sz="1500" b="0" u="none" strike="noStrike">
                <a:solidFill>
                  <a:srgbClr val="536B75"/>
                </a:solidFill>
                <a:effectLst/>
                <a:uFillTx/>
                <a:latin typeface="DejaVu Sans"/>
              </a:rPr>
              <a:t>Cách thức: vận động chính trị, tổ chức và phong trào.</a:t>
            </a:r>
            <a:endParaRPr lang="en-US" sz="1500" b="0" u="none" strike="noStrike">
              <a:solidFill>
                <a:srgbClr val="000000"/>
              </a:solidFill>
              <a:effectLst/>
              <a:uFillTx/>
              <a:latin typeface="Arial"/>
            </a:endParaRPr>
          </a:p>
          <a:p>
            <a:pPr defTabSz="457200">
              <a:lnSpc>
                <a:spcPct val="100000"/>
              </a:lnSpc>
              <a:spcAft>
                <a:spcPts val="300"/>
              </a:spcAft>
            </a:pPr>
            <a:r>
              <a:rPr lang="en-US" sz="1500" b="0" u="none" strike="noStrike">
                <a:solidFill>
                  <a:srgbClr val="536B75"/>
                </a:solidFill>
                <a:effectLst/>
                <a:uFillTx/>
                <a:latin typeface="DejaVu Sans"/>
              </a:rPr>
              <a:t>Ý nghĩa: chuyển sang mục tiêu quyền lực xã hội.</a:t>
            </a:r>
            <a:endParaRPr lang="en-US" sz="1500" b="0" u="none" strike="noStrike">
              <a:solidFill>
                <a:srgbClr val="000000"/>
              </a:solidFill>
              <a:effectLst/>
              <a:uFillTx/>
              <a:latin typeface="Arial"/>
            </a:endParaRPr>
          </a:p>
        </p:txBody>
      </p:sp>
      <p:sp>
        <p:nvSpPr>
          <p:cNvPr id="430" name="Rounded Rectangle 15"/>
          <p:cNvSpPr/>
          <p:nvPr/>
        </p:nvSpPr>
        <p:spPr>
          <a:xfrm>
            <a:off x="80863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31" name="Rectangle 16"/>
          <p:cNvSpPr/>
          <p:nvPr/>
        </p:nvSpPr>
        <p:spPr>
          <a:xfrm>
            <a:off x="80863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32" name="TextBox 17"/>
          <p:cNvSpPr/>
          <p:nvPr/>
        </p:nvSpPr>
        <p:spPr>
          <a:xfrm>
            <a:off x="82692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433" name="TextBox 18"/>
          <p:cNvSpPr/>
          <p:nvPr/>
        </p:nvSpPr>
        <p:spPr>
          <a:xfrm>
            <a:off x="82692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TƯ TƯỞNG</a:t>
            </a:r>
            <a:endParaRPr lang="en-US" sz="1700" b="0" u="none" strike="noStrike">
              <a:solidFill>
                <a:srgbClr val="000000"/>
              </a:solidFill>
              <a:effectLst/>
              <a:uFillTx/>
              <a:latin typeface="Arial"/>
            </a:endParaRPr>
          </a:p>
        </p:txBody>
      </p:sp>
      <p:sp>
        <p:nvSpPr>
          <p:cNvPr id="434" name="TextBox 19"/>
          <p:cNvSpPr/>
          <p:nvPr/>
        </p:nvSpPr>
        <p:spPr>
          <a:xfrm>
            <a:off x="82692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500" b="0" u="none" strike="noStrike">
                <a:solidFill>
                  <a:srgbClr val="536B75"/>
                </a:solidFill>
                <a:effectLst/>
                <a:uFillTx/>
                <a:latin typeface="DejaVu Sans"/>
              </a:rPr>
              <a:t>Mục tiêu: đấu tranh với hệ tư tưởng tư sản, tư tưởng lạc hậu.</a:t>
            </a:r>
            <a:endParaRPr lang="en-US" sz="1500" b="0" u="none" strike="noStrike">
              <a:solidFill>
                <a:srgbClr val="000000"/>
              </a:solidFill>
              <a:effectLst/>
              <a:uFillTx/>
              <a:latin typeface="Arial"/>
            </a:endParaRPr>
          </a:p>
          <a:p>
            <a:pPr defTabSz="457200">
              <a:lnSpc>
                <a:spcPct val="100000"/>
              </a:lnSpc>
              <a:spcAft>
                <a:spcPts val="300"/>
              </a:spcAft>
            </a:pPr>
            <a:r>
              <a:rPr lang="en-US" sz="1500" b="0" u="none" strike="noStrike">
                <a:solidFill>
                  <a:srgbClr val="536B75"/>
                </a:solidFill>
                <a:effectLst/>
                <a:uFillTx/>
                <a:latin typeface="DejaVu Sans"/>
              </a:rPr>
              <a:t>Cách thức: tuyên truyền, giáo dục, phản biện.</a:t>
            </a:r>
            <a:endParaRPr lang="en-US" sz="1500" b="0" u="none" strike="noStrike">
              <a:solidFill>
                <a:srgbClr val="000000"/>
              </a:solidFill>
              <a:effectLst/>
              <a:uFillTx/>
              <a:latin typeface="Arial"/>
            </a:endParaRPr>
          </a:p>
          <a:p>
            <a:pPr defTabSz="457200">
              <a:lnSpc>
                <a:spcPct val="100000"/>
              </a:lnSpc>
              <a:spcAft>
                <a:spcPts val="300"/>
              </a:spcAft>
            </a:pPr>
            <a:r>
              <a:rPr lang="en-US" sz="1500" b="0" u="none" strike="noStrike">
                <a:solidFill>
                  <a:srgbClr val="536B75"/>
                </a:solidFill>
                <a:effectLst/>
                <a:uFillTx/>
                <a:latin typeface="DejaVu Sans"/>
              </a:rPr>
              <a:t>Ý nghĩa: nâng nhận thức và tinh thần cách mạng.</a:t>
            </a:r>
            <a:endParaRPr lang="en-US" sz="1500" b="0" u="none" strike="noStrike">
              <a:solidFill>
                <a:srgbClr val="000000"/>
              </a:solidFill>
              <a:effectLst/>
              <a:uFillTx/>
              <a:latin typeface="Arial"/>
            </a:endParaRPr>
          </a:p>
        </p:txBody>
      </p:sp>
      <p:sp>
        <p:nvSpPr>
          <p:cNvPr id="435" name="Rounded Rectangle 20"/>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36"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Theo tài liệu: đấu tranh chính trị là hình thức cao nhất, giữ ý nghĩa quyết định.</a:t>
            </a:r>
            <a:endParaRPr lang="en-US" sz="1200" b="0" u="none" strike="noStrike">
              <a:solidFill>
                <a:srgbClr val="000000"/>
              </a:solidFill>
              <a:effectLst/>
              <a:uFillTx/>
              <a:latin typeface="Arial"/>
            </a:endParaRPr>
          </a:p>
        </p:txBody>
      </p:sp>
      <p:sp>
        <p:nvSpPr>
          <p:cNvPr id="437"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438"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16 / 25</a:t>
            </a:r>
            <a:endParaRPr lang="en-US" sz="1000" b="0" u="none" strike="noStrike">
              <a:solidFill>
                <a:srgbClr val="000000"/>
              </a:solidFill>
              <a:effectLst/>
              <a:uFillTx/>
              <a:latin typeface="Arial"/>
            </a:endParaRPr>
          </a:p>
        </p:txBody>
      </p:sp>
    </p:spTree>
  </p:cSld>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439"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440"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441"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Vì sao đấu tranh chính trị giữ vai trò quyết định?</a:t>
            </a:r>
            <a:endParaRPr lang="en-US" sz="2800" b="0" u="none" strike="noStrike">
              <a:solidFill>
                <a:srgbClr val="000000"/>
              </a:solidFill>
              <a:effectLst/>
              <a:uFillTx/>
              <a:latin typeface="Arial"/>
            </a:endParaRPr>
          </a:p>
        </p:txBody>
      </p:sp>
      <p:sp>
        <p:nvSpPr>
          <p:cNvPr id="442"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Từ yêu cầu trước mắt đến điều kiện cải biến xã hội</a:t>
            </a:r>
            <a:endParaRPr lang="en-US" sz="1500" b="0" u="none" strike="noStrike">
              <a:solidFill>
                <a:srgbClr val="000000"/>
              </a:solidFill>
              <a:effectLst/>
              <a:uFillTx/>
              <a:latin typeface="Arial"/>
            </a:endParaRPr>
          </a:p>
        </p:txBody>
      </p:sp>
      <p:sp>
        <p:nvSpPr>
          <p:cNvPr id="443" name="Rounded Rectangle 5"/>
          <p:cNvSpPr/>
          <p:nvPr/>
        </p:nvSpPr>
        <p:spPr>
          <a:xfrm>
            <a:off x="59436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44"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45" name="TextBox 7"/>
          <p:cNvSpPr/>
          <p:nvPr/>
        </p:nvSpPr>
        <p:spPr>
          <a:xfrm>
            <a:off x="77724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446" name="TextBox 8"/>
          <p:cNvSpPr/>
          <p:nvPr/>
        </p:nvSpPr>
        <p:spPr>
          <a:xfrm>
            <a:off x="77724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QUYỀN LỢI TRƯỚC MẮT</a:t>
            </a:r>
            <a:endParaRPr lang="en-US" sz="1700" b="0" u="none" strike="noStrike">
              <a:solidFill>
                <a:srgbClr val="000000"/>
              </a:solidFill>
              <a:effectLst/>
              <a:uFillTx/>
              <a:latin typeface="Arial"/>
            </a:endParaRPr>
          </a:p>
        </p:txBody>
      </p:sp>
      <p:sp>
        <p:nvSpPr>
          <p:cNvPr id="447" name="TextBox 9"/>
          <p:cNvSpPr/>
          <p:nvPr/>
        </p:nvSpPr>
        <p:spPr>
          <a:xfrm>
            <a:off x="77724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Đấu tranh kinh tế bảo vệ đời sống và tập hợp người lao động.</a:t>
            </a:r>
            <a:endParaRPr lang="en-US" sz="1700" b="0" u="none" strike="noStrike">
              <a:solidFill>
                <a:srgbClr val="000000"/>
              </a:solidFill>
              <a:effectLst/>
              <a:uFillTx/>
              <a:latin typeface="Arial"/>
            </a:endParaRPr>
          </a:p>
        </p:txBody>
      </p:sp>
      <p:sp>
        <p:nvSpPr>
          <p:cNvPr id="448" name="Rounded Rectangle 10"/>
          <p:cNvSpPr/>
          <p:nvPr/>
        </p:nvSpPr>
        <p:spPr>
          <a:xfrm>
            <a:off x="43405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49" name="Rectangle 11"/>
          <p:cNvSpPr/>
          <p:nvPr/>
        </p:nvSpPr>
        <p:spPr>
          <a:xfrm>
            <a:off x="43405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50" name="TextBox 12"/>
          <p:cNvSpPr/>
          <p:nvPr/>
        </p:nvSpPr>
        <p:spPr>
          <a:xfrm>
            <a:off x="45234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451" name="TextBox 13"/>
          <p:cNvSpPr/>
          <p:nvPr/>
        </p:nvSpPr>
        <p:spPr>
          <a:xfrm>
            <a:off x="45234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QUYỀN LỰC NHÀ NƯỚC</a:t>
            </a:r>
            <a:endParaRPr lang="en-US" sz="1700" b="0" u="none" strike="noStrike">
              <a:solidFill>
                <a:srgbClr val="000000"/>
              </a:solidFill>
              <a:effectLst/>
              <a:uFillTx/>
              <a:latin typeface="Arial"/>
            </a:endParaRPr>
          </a:p>
        </p:txBody>
      </p:sp>
      <p:sp>
        <p:nvSpPr>
          <p:cNvPr id="452" name="TextBox 14"/>
          <p:cNvSpPr/>
          <p:nvPr/>
        </p:nvSpPr>
        <p:spPr>
          <a:xfrm>
            <a:off x="45234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Giành và giữ chính quyền là trọng tâm của đấu tranh chính trị.</a:t>
            </a:r>
            <a:endParaRPr lang="en-US" sz="1700" b="0" u="none" strike="noStrike">
              <a:solidFill>
                <a:srgbClr val="000000"/>
              </a:solidFill>
              <a:effectLst/>
              <a:uFillTx/>
              <a:latin typeface="Arial"/>
            </a:endParaRPr>
          </a:p>
        </p:txBody>
      </p:sp>
      <p:sp>
        <p:nvSpPr>
          <p:cNvPr id="453" name="Rounded Rectangle 15"/>
          <p:cNvSpPr/>
          <p:nvPr/>
        </p:nvSpPr>
        <p:spPr>
          <a:xfrm>
            <a:off x="80863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54" name="Rectangle 16"/>
          <p:cNvSpPr/>
          <p:nvPr/>
        </p:nvSpPr>
        <p:spPr>
          <a:xfrm>
            <a:off x="80863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55" name="TextBox 17"/>
          <p:cNvSpPr/>
          <p:nvPr/>
        </p:nvSpPr>
        <p:spPr>
          <a:xfrm>
            <a:off x="82692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456" name="TextBox 18"/>
          <p:cNvSpPr/>
          <p:nvPr/>
        </p:nvSpPr>
        <p:spPr>
          <a:xfrm>
            <a:off x="82692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CẢI BIẾN QUAN HỆ XÃ HỘI</a:t>
            </a:r>
            <a:endParaRPr lang="en-US" sz="1700" b="0" u="none" strike="noStrike">
              <a:solidFill>
                <a:srgbClr val="000000"/>
              </a:solidFill>
              <a:effectLst/>
              <a:uFillTx/>
              <a:latin typeface="Arial"/>
            </a:endParaRPr>
          </a:p>
        </p:txBody>
      </p:sp>
      <p:sp>
        <p:nvSpPr>
          <p:cNvPr id="457" name="TextBox 19"/>
          <p:cNvSpPr/>
          <p:nvPr/>
        </p:nvSpPr>
        <p:spPr>
          <a:xfrm>
            <a:off x="82692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Quyền lực tạo điều kiện tổ chức xây dựng xã hội mới.</a:t>
            </a:r>
            <a:endParaRPr lang="en-US" sz="1700" b="0" u="none" strike="noStrike">
              <a:solidFill>
                <a:srgbClr val="000000"/>
              </a:solidFill>
              <a:effectLst/>
              <a:uFillTx/>
              <a:latin typeface="Arial"/>
            </a:endParaRPr>
          </a:p>
        </p:txBody>
      </p:sp>
      <p:sp>
        <p:nvSpPr>
          <p:cNvPr id="458" name="Rounded Rectangle 20"/>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59"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Ví dụ tài liệu: đập phá máy móc cuối TK XVIII–đầu XIX; bãi công đòi lương, giờ làm TK XIX–đầu XX.</a:t>
            </a:r>
            <a:endParaRPr lang="en-US" sz="1200" b="0" u="none" strike="noStrike">
              <a:solidFill>
                <a:srgbClr val="000000"/>
              </a:solidFill>
              <a:effectLst/>
              <a:uFillTx/>
              <a:latin typeface="Arial"/>
            </a:endParaRPr>
          </a:p>
        </p:txBody>
      </p:sp>
      <p:sp>
        <p:nvSpPr>
          <p:cNvPr id="460"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461"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17 / 25</a:t>
            </a:r>
            <a:endParaRPr lang="en-US" sz="1000" b="0" u="none" strike="noStrike">
              <a:solidFill>
                <a:srgbClr val="000000"/>
              </a:solidFill>
              <a:effectLst/>
              <a:uFillTx/>
              <a:latin typeface="Arial"/>
            </a:endParaRPr>
          </a:p>
        </p:txBody>
      </p:sp>
    </p:spTree>
  </p:cSld>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462"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463"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464"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Thời kỳ quá độ: hai nhiệm vụ đồng thời</a:t>
            </a:r>
            <a:endParaRPr lang="en-US" sz="2800" b="0" u="none" strike="noStrike">
              <a:solidFill>
                <a:srgbClr val="000000"/>
              </a:solidFill>
              <a:effectLst/>
              <a:uFillTx/>
              <a:latin typeface="Arial"/>
            </a:endParaRPr>
          </a:p>
        </p:txBody>
      </p:sp>
      <p:sp>
        <p:nvSpPr>
          <p:cNvPr id="465"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Từ giành chính quyền sang bảo vệ và xây dựng</a:t>
            </a:r>
            <a:endParaRPr lang="en-US" sz="1500" b="0" u="none" strike="noStrike">
              <a:solidFill>
                <a:srgbClr val="000000"/>
              </a:solidFill>
              <a:effectLst/>
              <a:uFillTx/>
              <a:latin typeface="Arial"/>
            </a:endParaRPr>
          </a:p>
        </p:txBody>
      </p:sp>
      <p:sp>
        <p:nvSpPr>
          <p:cNvPr id="466" name="Rounded Rectangle 5"/>
          <p:cNvSpPr/>
          <p:nvPr/>
        </p:nvSpPr>
        <p:spPr>
          <a:xfrm>
            <a:off x="594360" y="2697480"/>
            <a:ext cx="539928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67"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68" name="TextBox 7"/>
          <p:cNvSpPr/>
          <p:nvPr/>
        </p:nvSpPr>
        <p:spPr>
          <a:xfrm>
            <a:off x="777240" y="2843640"/>
            <a:ext cx="503352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469" name="TextBox 8"/>
          <p:cNvSpPr/>
          <p:nvPr/>
        </p:nvSpPr>
        <p:spPr>
          <a:xfrm>
            <a:off x="777240" y="3136320"/>
            <a:ext cx="503352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BẢO VỆ &amp; CẢI TẠO</a:t>
            </a:r>
            <a:endParaRPr lang="en-US" sz="1700" b="0" u="none" strike="noStrike">
              <a:solidFill>
                <a:srgbClr val="000000"/>
              </a:solidFill>
              <a:effectLst/>
              <a:uFillTx/>
              <a:latin typeface="Arial"/>
            </a:endParaRPr>
          </a:p>
        </p:txBody>
      </p:sp>
      <p:sp>
        <p:nvSpPr>
          <p:cNvPr id="470" name="TextBox 9"/>
          <p:cNvSpPr/>
          <p:nvPr/>
        </p:nvSpPr>
        <p:spPr>
          <a:xfrm>
            <a:off x="777240" y="3758040"/>
            <a:ext cx="503352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Bảo vệ thành quả cách mạng đã giành được.</a:t>
            </a:r>
            <a:endParaRPr lang="en-US" sz="1700" b="0" u="none" strike="noStrike">
              <a:solidFill>
                <a:srgbClr val="000000"/>
              </a:solidFill>
              <a:effectLst/>
              <a:uFillTx/>
              <a:latin typeface="Arial"/>
            </a:endParaRPr>
          </a:p>
          <a:p>
            <a:pPr defTabSz="457200">
              <a:lnSpc>
                <a:spcPct val="100000"/>
              </a:lnSpc>
              <a:spcAft>
                <a:spcPts val="300"/>
              </a:spcAft>
            </a:pPr>
            <a:r>
              <a:rPr lang="en-US" sz="1700" b="0" u="none" strike="noStrike">
                <a:solidFill>
                  <a:srgbClr val="536B75"/>
                </a:solidFill>
                <a:effectLst/>
                <a:uFillTx/>
                <a:latin typeface="DejaVu Sans"/>
              </a:rPr>
              <a:t>Cải tạo xã hội cũ.</a:t>
            </a:r>
            <a:endParaRPr lang="en-US" sz="1700" b="0" u="none" strike="noStrike">
              <a:solidFill>
                <a:srgbClr val="000000"/>
              </a:solidFill>
              <a:effectLst/>
              <a:uFillTx/>
              <a:latin typeface="Arial"/>
            </a:endParaRPr>
          </a:p>
        </p:txBody>
      </p:sp>
      <p:sp>
        <p:nvSpPr>
          <p:cNvPr id="471" name="Rounded Rectangle 10"/>
          <p:cNvSpPr/>
          <p:nvPr/>
        </p:nvSpPr>
        <p:spPr>
          <a:xfrm>
            <a:off x="6213240" y="2697480"/>
            <a:ext cx="539928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72" name="Rectangle 11"/>
          <p:cNvSpPr/>
          <p:nvPr/>
        </p:nvSpPr>
        <p:spPr>
          <a:xfrm>
            <a:off x="621324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73" name="TextBox 12"/>
          <p:cNvSpPr/>
          <p:nvPr/>
        </p:nvSpPr>
        <p:spPr>
          <a:xfrm>
            <a:off x="6396120" y="2843640"/>
            <a:ext cx="503352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474" name="TextBox 13"/>
          <p:cNvSpPr/>
          <p:nvPr/>
        </p:nvSpPr>
        <p:spPr>
          <a:xfrm>
            <a:off x="6396120" y="3136320"/>
            <a:ext cx="503352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XÂY DỰNG XÃ HỘI MỚI</a:t>
            </a:r>
            <a:endParaRPr lang="en-US" sz="1700" b="0" u="none" strike="noStrike">
              <a:solidFill>
                <a:srgbClr val="000000"/>
              </a:solidFill>
              <a:effectLst/>
              <a:uFillTx/>
              <a:latin typeface="Arial"/>
            </a:endParaRPr>
          </a:p>
        </p:txBody>
      </p:sp>
      <p:sp>
        <p:nvSpPr>
          <p:cNvPr id="475" name="TextBox 14"/>
          <p:cNvSpPr/>
          <p:nvPr/>
        </p:nvSpPr>
        <p:spPr>
          <a:xfrm>
            <a:off x="6396120" y="3758040"/>
            <a:ext cx="503352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Phát triển các lĩnh vực kinh tế, chính trị, tư tưởng và văn hóa.</a:t>
            </a:r>
            <a:endParaRPr lang="en-US" sz="1700" b="0" u="none" strike="noStrike">
              <a:solidFill>
                <a:srgbClr val="000000"/>
              </a:solidFill>
              <a:effectLst/>
              <a:uFillTx/>
              <a:latin typeface="Arial"/>
            </a:endParaRPr>
          </a:p>
        </p:txBody>
      </p:sp>
      <p:sp>
        <p:nvSpPr>
          <p:cNvPr id="476" name="Rounded Rectangle 15"/>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77" name="TextBox 16"/>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Tài liệu nêu phối hợp nhiều hình thức: hòa bình/bạo lực, kinh tế/quân sự, giáo dục/hành chính.</a:t>
            </a:r>
            <a:endParaRPr lang="en-US" sz="1200" b="0" u="none" strike="noStrike">
              <a:solidFill>
                <a:srgbClr val="000000"/>
              </a:solidFill>
              <a:effectLst/>
              <a:uFillTx/>
              <a:latin typeface="Arial"/>
            </a:endParaRPr>
          </a:p>
        </p:txBody>
      </p:sp>
      <p:sp>
        <p:nvSpPr>
          <p:cNvPr id="478" name="TextBox 17"/>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479" name="TextBox 18"/>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18 / 25</a:t>
            </a:r>
            <a:endParaRPr lang="en-US" sz="1000" b="0" u="none" strike="noStrike">
              <a:solidFill>
                <a:srgbClr val="000000"/>
              </a:solidFill>
              <a:effectLst/>
              <a:uFillTx/>
              <a:latin typeface="Arial"/>
            </a:endParaRPr>
          </a:p>
        </p:txBody>
      </p:sp>
    </p:spTree>
  </p:cSld>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480"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481"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482"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Việt Nam: vừa đấu tranh, vừa hợp tác</a:t>
            </a:r>
            <a:endParaRPr lang="en-US" sz="2800" b="0" u="none" strike="noStrike">
              <a:solidFill>
                <a:srgbClr val="000000"/>
              </a:solidFill>
              <a:effectLst/>
              <a:uFillTx/>
              <a:latin typeface="Arial"/>
            </a:endParaRPr>
          </a:p>
        </p:txBody>
      </p:sp>
      <p:sp>
        <p:nvSpPr>
          <p:cNvPr id="483"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Bối cảnh mới • nội dung mới • hình thức đa dạng</a:t>
            </a:r>
            <a:endParaRPr lang="en-US" sz="1500" b="0" u="none" strike="noStrike">
              <a:solidFill>
                <a:srgbClr val="000000"/>
              </a:solidFill>
              <a:effectLst/>
              <a:uFillTx/>
              <a:latin typeface="Arial"/>
            </a:endParaRPr>
          </a:p>
        </p:txBody>
      </p:sp>
      <p:sp>
        <p:nvSpPr>
          <p:cNvPr id="484" name="Rounded Rectangle 5"/>
          <p:cNvSpPr/>
          <p:nvPr/>
        </p:nvSpPr>
        <p:spPr>
          <a:xfrm>
            <a:off x="59436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85"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86" name="TextBox 7"/>
          <p:cNvSpPr/>
          <p:nvPr/>
        </p:nvSpPr>
        <p:spPr>
          <a:xfrm>
            <a:off x="77724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487" name="TextBox 8"/>
          <p:cNvSpPr/>
          <p:nvPr/>
        </p:nvSpPr>
        <p:spPr>
          <a:xfrm>
            <a:off x="77724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MỤC TIÊU CHUNG</a:t>
            </a:r>
            <a:endParaRPr lang="en-US" sz="1700" b="0" u="none" strike="noStrike">
              <a:solidFill>
                <a:srgbClr val="000000"/>
              </a:solidFill>
              <a:effectLst/>
              <a:uFillTx/>
              <a:latin typeface="Arial"/>
            </a:endParaRPr>
          </a:p>
        </p:txBody>
      </p:sp>
      <p:sp>
        <p:nvSpPr>
          <p:cNvPr id="488" name="TextBox 9"/>
          <p:cNvSpPr/>
          <p:nvPr/>
        </p:nvSpPr>
        <p:spPr>
          <a:xfrm>
            <a:off x="77724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Độc lập dân tộc và chủ nghĩa xã hội.</a:t>
            </a:r>
            <a:endParaRPr lang="en-US" sz="1700" b="0" u="none" strike="noStrike">
              <a:solidFill>
                <a:srgbClr val="000000"/>
              </a:solidFill>
              <a:effectLst/>
              <a:uFillTx/>
              <a:latin typeface="Arial"/>
            </a:endParaRPr>
          </a:p>
          <a:p>
            <a:pPr defTabSz="457200">
              <a:lnSpc>
                <a:spcPct val="100000"/>
              </a:lnSpc>
              <a:spcAft>
                <a:spcPts val="300"/>
              </a:spcAft>
            </a:pPr>
            <a:r>
              <a:rPr lang="en-US" sz="1700" b="0" u="none" strike="noStrike">
                <a:solidFill>
                  <a:srgbClr val="536B75"/>
                </a:solidFill>
                <a:effectLst/>
                <a:uFillTx/>
                <a:latin typeface="DejaVu Sans"/>
              </a:rPr>
              <a:t>Dân giàu, nước mạnh, dân chủ, công bằng, văn minh.</a:t>
            </a:r>
            <a:endParaRPr lang="en-US" sz="1700" b="0" u="none" strike="noStrike">
              <a:solidFill>
                <a:srgbClr val="000000"/>
              </a:solidFill>
              <a:effectLst/>
              <a:uFillTx/>
              <a:latin typeface="Arial"/>
            </a:endParaRPr>
          </a:p>
        </p:txBody>
      </p:sp>
      <p:sp>
        <p:nvSpPr>
          <p:cNvPr id="489" name="Rounded Rectangle 10"/>
          <p:cNvSpPr/>
          <p:nvPr/>
        </p:nvSpPr>
        <p:spPr>
          <a:xfrm>
            <a:off x="43405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90" name="Rectangle 11"/>
          <p:cNvSpPr/>
          <p:nvPr/>
        </p:nvSpPr>
        <p:spPr>
          <a:xfrm>
            <a:off x="43405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91" name="TextBox 12"/>
          <p:cNvSpPr/>
          <p:nvPr/>
        </p:nvSpPr>
        <p:spPr>
          <a:xfrm>
            <a:off x="45234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492" name="TextBox 13"/>
          <p:cNvSpPr/>
          <p:nvPr/>
        </p:nvSpPr>
        <p:spPr>
          <a:xfrm>
            <a:off x="45234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ĐIỀU KIỆN MỚI</a:t>
            </a:r>
            <a:endParaRPr lang="en-US" sz="1700" b="0" u="none" strike="noStrike">
              <a:solidFill>
                <a:srgbClr val="000000"/>
              </a:solidFill>
              <a:effectLst/>
              <a:uFillTx/>
              <a:latin typeface="Arial"/>
            </a:endParaRPr>
          </a:p>
        </p:txBody>
      </p:sp>
      <p:sp>
        <p:nvSpPr>
          <p:cNvPr id="493" name="TextBox 14"/>
          <p:cNvSpPr/>
          <p:nvPr/>
        </p:nvSpPr>
        <p:spPr>
          <a:xfrm>
            <a:off x="45234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600" b="0" u="none" strike="noStrike">
                <a:solidFill>
                  <a:srgbClr val="536B75"/>
                </a:solidFill>
                <a:effectLst/>
                <a:uFillTx/>
                <a:latin typeface="DejaVu Sans"/>
              </a:rPr>
              <a:t>Nền kinh tế nhiều thành phần; lợi ích khác nhau cùng tồn tại.</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Vấn đề thể hiện qua kinh tế, chính trị, tư tưởng.</a:t>
            </a:r>
            <a:endParaRPr lang="en-US" sz="1600" b="0" u="none" strike="noStrike">
              <a:solidFill>
                <a:srgbClr val="000000"/>
              </a:solidFill>
              <a:effectLst/>
              <a:uFillTx/>
              <a:latin typeface="Arial"/>
            </a:endParaRPr>
          </a:p>
        </p:txBody>
      </p:sp>
      <p:sp>
        <p:nvSpPr>
          <p:cNvPr id="494" name="Rounded Rectangle 15"/>
          <p:cNvSpPr/>
          <p:nvPr/>
        </p:nvSpPr>
        <p:spPr>
          <a:xfrm>
            <a:off x="80863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95" name="Rectangle 16"/>
          <p:cNvSpPr/>
          <p:nvPr/>
        </p:nvSpPr>
        <p:spPr>
          <a:xfrm>
            <a:off x="80863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96" name="TextBox 17"/>
          <p:cNvSpPr/>
          <p:nvPr/>
        </p:nvSpPr>
        <p:spPr>
          <a:xfrm>
            <a:off x="82692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497" name="TextBox 18"/>
          <p:cNvSpPr/>
          <p:nvPr/>
        </p:nvSpPr>
        <p:spPr>
          <a:xfrm>
            <a:off x="82692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PHƯƠNG THỨC</a:t>
            </a:r>
            <a:endParaRPr lang="en-US" sz="1700" b="0" u="none" strike="noStrike">
              <a:solidFill>
                <a:srgbClr val="000000"/>
              </a:solidFill>
              <a:effectLst/>
              <a:uFillTx/>
              <a:latin typeface="Arial"/>
            </a:endParaRPr>
          </a:p>
        </p:txBody>
      </p:sp>
      <p:sp>
        <p:nvSpPr>
          <p:cNvPr id="498" name="TextBox 19"/>
          <p:cNvSpPr/>
          <p:nvPr/>
        </p:nvSpPr>
        <p:spPr>
          <a:xfrm>
            <a:off x="82692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Kết hợp linh hoạt các biện pháp.</a:t>
            </a:r>
            <a:endParaRPr lang="en-US" sz="1700" b="0" u="none" strike="noStrike">
              <a:solidFill>
                <a:srgbClr val="000000"/>
              </a:solidFill>
              <a:effectLst/>
              <a:uFillTx/>
              <a:latin typeface="Arial"/>
            </a:endParaRPr>
          </a:p>
          <a:p>
            <a:pPr defTabSz="457200">
              <a:lnSpc>
                <a:spcPct val="100000"/>
              </a:lnSpc>
              <a:spcAft>
                <a:spcPts val="300"/>
              </a:spcAft>
            </a:pPr>
            <a:r>
              <a:rPr lang="en-US" sz="1700" b="0" u="none" strike="noStrike">
                <a:solidFill>
                  <a:srgbClr val="536B75"/>
                </a:solidFill>
                <a:effectLst/>
                <a:uFillTx/>
                <a:latin typeface="DejaVu Sans"/>
              </a:rPr>
              <a:t>Đấu tranh gắn với hợp tác và đại đoàn kết dân tộc.</a:t>
            </a:r>
            <a:endParaRPr lang="en-US" sz="1700" b="0" u="none" strike="noStrike">
              <a:solidFill>
                <a:srgbClr val="000000"/>
              </a:solidFill>
              <a:effectLst/>
              <a:uFillTx/>
              <a:latin typeface="Arial"/>
            </a:endParaRPr>
          </a:p>
        </p:txBody>
      </p:sp>
      <p:sp>
        <p:nvSpPr>
          <p:cNvPr id="499" name="Rounded Rectangle 20"/>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00"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Điểm nhấn trong tài liệu: khác biệt lợi ích đi cùng mục tiêu chung phát triển đất nước.</a:t>
            </a:r>
            <a:endParaRPr lang="en-US" sz="1200" b="0" u="none" strike="noStrike">
              <a:solidFill>
                <a:srgbClr val="000000"/>
              </a:solidFill>
              <a:effectLst/>
              <a:uFillTx/>
              <a:latin typeface="Arial"/>
            </a:endParaRPr>
          </a:p>
        </p:txBody>
      </p:sp>
      <p:sp>
        <p:nvSpPr>
          <p:cNvPr id="501"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502"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19 / 25</a:t>
            </a:r>
            <a:endParaRPr lang="en-US" sz="1000" b="0" u="none" strike="noStrike">
              <a:solidFill>
                <a:srgbClr val="000000"/>
              </a:solidFill>
              <a:effectLst/>
              <a:uFillTx/>
              <a:latin typeface="Arial"/>
            </a:endParaRPr>
          </a:p>
        </p:txBody>
      </p:sp>
    </p:spTree>
  </p:cSld>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503"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504"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505"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Giai cấp ↔ dân tộc: tác động hai chiều</a:t>
            </a:r>
            <a:endParaRPr lang="en-US" sz="2800" b="0" u="none" strike="noStrike">
              <a:solidFill>
                <a:srgbClr val="000000"/>
              </a:solidFill>
              <a:effectLst/>
              <a:uFillTx/>
              <a:latin typeface="Arial"/>
            </a:endParaRPr>
          </a:p>
        </p:txBody>
      </p:sp>
      <p:sp>
        <p:nvSpPr>
          <p:cNvPr id="506"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Hai phạm trù khác nhau; không thể thay thế cho nhau</a:t>
            </a:r>
            <a:endParaRPr lang="en-US" sz="1500" b="0" u="none" strike="noStrike">
              <a:solidFill>
                <a:srgbClr val="000000"/>
              </a:solidFill>
              <a:effectLst/>
              <a:uFillTx/>
              <a:latin typeface="Arial"/>
            </a:endParaRPr>
          </a:p>
        </p:txBody>
      </p:sp>
      <p:sp>
        <p:nvSpPr>
          <p:cNvPr id="507" name="Rounded Rectangle 5"/>
          <p:cNvSpPr/>
          <p:nvPr/>
        </p:nvSpPr>
        <p:spPr>
          <a:xfrm>
            <a:off x="59436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08"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09" name="TextBox 7"/>
          <p:cNvSpPr/>
          <p:nvPr/>
        </p:nvSpPr>
        <p:spPr>
          <a:xfrm>
            <a:off x="77724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510" name="TextBox 8"/>
          <p:cNvSpPr/>
          <p:nvPr/>
        </p:nvSpPr>
        <p:spPr>
          <a:xfrm>
            <a:off x="77724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GIAI CẤP → DÂN TỘC</a:t>
            </a:r>
            <a:endParaRPr lang="en-US" sz="1700" b="0" u="none" strike="noStrike">
              <a:solidFill>
                <a:srgbClr val="000000"/>
              </a:solidFill>
              <a:effectLst/>
              <a:uFillTx/>
              <a:latin typeface="Arial"/>
            </a:endParaRPr>
          </a:p>
        </p:txBody>
      </p:sp>
      <p:sp>
        <p:nvSpPr>
          <p:cNvPr id="511" name="TextBox 9"/>
          <p:cNvSpPr/>
          <p:nvPr/>
        </p:nvSpPr>
        <p:spPr>
          <a:xfrm>
            <a:off x="77724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600" b="0" u="none" strike="noStrike">
                <a:solidFill>
                  <a:srgbClr val="536B75"/>
                </a:solidFill>
                <a:effectLst/>
                <a:uFillTx/>
                <a:latin typeface="DejaVu Sans"/>
              </a:rPr>
              <a:t>Theo tài liệu, quan hệ giai cấp giữ vai trò quyết định.</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Giai cấp lãnh đạo ảnh hưởng phương hướng phát triển dân tộc.</a:t>
            </a:r>
            <a:endParaRPr lang="en-US" sz="1600" b="0" u="none" strike="noStrike">
              <a:solidFill>
                <a:srgbClr val="000000"/>
              </a:solidFill>
              <a:effectLst/>
              <a:uFillTx/>
              <a:latin typeface="Arial"/>
            </a:endParaRPr>
          </a:p>
        </p:txBody>
      </p:sp>
      <p:sp>
        <p:nvSpPr>
          <p:cNvPr id="512" name="Rounded Rectangle 10"/>
          <p:cNvSpPr/>
          <p:nvPr/>
        </p:nvSpPr>
        <p:spPr>
          <a:xfrm>
            <a:off x="43405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13" name="Rectangle 11"/>
          <p:cNvSpPr/>
          <p:nvPr/>
        </p:nvSpPr>
        <p:spPr>
          <a:xfrm>
            <a:off x="43405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14" name="TextBox 12"/>
          <p:cNvSpPr/>
          <p:nvPr/>
        </p:nvSpPr>
        <p:spPr>
          <a:xfrm>
            <a:off x="45234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515" name="TextBox 13"/>
          <p:cNvSpPr/>
          <p:nvPr/>
        </p:nvSpPr>
        <p:spPr>
          <a:xfrm>
            <a:off x="45234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DÂN TỘC → GIAI CẤP</a:t>
            </a:r>
            <a:endParaRPr lang="en-US" sz="1700" b="0" u="none" strike="noStrike">
              <a:solidFill>
                <a:srgbClr val="000000"/>
              </a:solidFill>
              <a:effectLst/>
              <a:uFillTx/>
              <a:latin typeface="Arial"/>
            </a:endParaRPr>
          </a:p>
        </p:txBody>
      </p:sp>
      <p:sp>
        <p:nvSpPr>
          <p:cNvPr id="516" name="TextBox 14"/>
          <p:cNvSpPr/>
          <p:nvPr/>
        </p:nvSpPr>
        <p:spPr>
          <a:xfrm>
            <a:off x="45234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600" b="0" u="none" strike="noStrike">
                <a:solidFill>
                  <a:srgbClr val="536B75"/>
                </a:solidFill>
                <a:effectLst/>
                <a:uFillTx/>
                <a:latin typeface="DejaVu Sans"/>
              </a:rPr>
              <a:t>Vấn đề dân tộc tác động đến lợi ích và hoạt động các giai cấp.</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Khi bị áp bức, các giai cấp có thể đoàn kết vì độc lập.</a:t>
            </a:r>
            <a:endParaRPr lang="en-US" sz="1600" b="0" u="none" strike="noStrike">
              <a:solidFill>
                <a:srgbClr val="000000"/>
              </a:solidFill>
              <a:effectLst/>
              <a:uFillTx/>
              <a:latin typeface="Arial"/>
            </a:endParaRPr>
          </a:p>
        </p:txBody>
      </p:sp>
      <p:sp>
        <p:nvSpPr>
          <p:cNvPr id="517" name="Rounded Rectangle 15"/>
          <p:cNvSpPr/>
          <p:nvPr/>
        </p:nvSpPr>
        <p:spPr>
          <a:xfrm>
            <a:off x="80863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18" name="Rectangle 16"/>
          <p:cNvSpPr/>
          <p:nvPr/>
        </p:nvSpPr>
        <p:spPr>
          <a:xfrm>
            <a:off x="80863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19" name="TextBox 17"/>
          <p:cNvSpPr/>
          <p:nvPr/>
        </p:nvSpPr>
        <p:spPr>
          <a:xfrm>
            <a:off x="82692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520" name="TextBox 18"/>
          <p:cNvSpPr/>
          <p:nvPr/>
        </p:nvSpPr>
        <p:spPr>
          <a:xfrm>
            <a:off x="82692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GIẢI PHÓNG DÂN TỘC</a:t>
            </a:r>
            <a:endParaRPr lang="en-US" sz="1700" b="0" u="none" strike="noStrike">
              <a:solidFill>
                <a:srgbClr val="000000"/>
              </a:solidFill>
              <a:effectLst/>
              <a:uFillTx/>
              <a:latin typeface="Arial"/>
            </a:endParaRPr>
          </a:p>
        </p:txBody>
      </p:sp>
      <p:sp>
        <p:nvSpPr>
          <p:cNvPr id="521" name="TextBox 19"/>
          <p:cNvSpPr/>
          <p:nvPr/>
        </p:nvSpPr>
        <p:spPr>
          <a:xfrm>
            <a:off x="82692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600" b="0" u="none" strike="noStrike">
                <a:solidFill>
                  <a:srgbClr val="536B75"/>
                </a:solidFill>
                <a:effectLst/>
                <a:uFillTx/>
                <a:latin typeface="DejaVu Sans"/>
              </a:rPr>
              <a:t>Với dân tộc bị áp bức: độc lập là nhiệm vụ hàng đầu.</a:t>
            </a:r>
            <a:endParaRPr lang="en-US" sz="1600" b="0" u="none" strike="noStrike">
              <a:solidFill>
                <a:srgbClr val="000000"/>
              </a:solidFill>
              <a:effectLst/>
              <a:uFillTx/>
              <a:latin typeface="Arial"/>
            </a:endParaRPr>
          </a:p>
          <a:p>
            <a:pPr defTabSz="457200">
              <a:lnSpc>
                <a:spcPct val="100000"/>
              </a:lnSpc>
              <a:spcAft>
                <a:spcPts val="300"/>
              </a:spcAft>
            </a:pPr>
            <a:r>
              <a:rPr lang="en-US" sz="1600" b="0" u="none" strike="noStrike">
                <a:solidFill>
                  <a:srgbClr val="536B75"/>
                </a:solidFill>
                <a:effectLst/>
                <a:uFillTx/>
                <a:latin typeface="DejaVu Sans"/>
              </a:rPr>
              <a:t>Là điều kiện, tiền đề thuận lợi cho giải phóng giai cấp.</a:t>
            </a:r>
            <a:endParaRPr lang="en-US" sz="1600" b="0" u="none" strike="noStrike">
              <a:solidFill>
                <a:srgbClr val="000000"/>
              </a:solidFill>
              <a:effectLst/>
              <a:uFillTx/>
              <a:latin typeface="Arial"/>
            </a:endParaRPr>
          </a:p>
        </p:txBody>
      </p:sp>
      <p:sp>
        <p:nvSpPr>
          <p:cNvPr id="522" name="Rounded Rectangle 20"/>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23"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Một dân tộc có nhiều giai cấp; một giai cấp có thể tồn tại trong nhiều dân tộc.</a:t>
            </a:r>
            <a:endParaRPr lang="en-US" sz="1200" b="0" u="none" strike="noStrike">
              <a:solidFill>
                <a:srgbClr val="000000"/>
              </a:solidFill>
              <a:effectLst/>
              <a:uFillTx/>
              <a:latin typeface="Arial"/>
            </a:endParaRPr>
          </a:p>
        </p:txBody>
      </p:sp>
      <p:sp>
        <p:nvSpPr>
          <p:cNvPr id="524"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525"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20 / 25</a:t>
            </a:r>
            <a:endParaRPr lang="en-US" sz="1000" b="0" u="none" strike="noStrike">
              <a:solidFill>
                <a:srgbClr val="000000"/>
              </a:solidFill>
              <a:effectLst/>
              <a:uFillTx/>
              <a:latin typeface="Arial"/>
            </a:endParaRPr>
          </a:p>
        </p:txBody>
      </p:sp>
    </p:spTree>
  </p:cSld>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526"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527"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528"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Giai cấp, dân tộc trong cộng đồng nhân loại</a:t>
            </a:r>
            <a:endParaRPr lang="en-US" sz="2800" b="0" u="none" strike="noStrike">
              <a:solidFill>
                <a:srgbClr val="000000"/>
              </a:solidFill>
              <a:effectLst/>
              <a:uFillTx/>
              <a:latin typeface="Arial"/>
            </a:endParaRPr>
          </a:p>
        </p:txBody>
      </p:sp>
      <p:sp>
        <p:nvSpPr>
          <p:cNvPr id="529"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Nhân loại là toàn thể cộng đồng người sống trên Trái Đất</a:t>
            </a:r>
            <a:endParaRPr lang="en-US" sz="1500" b="0" u="none" strike="noStrike">
              <a:solidFill>
                <a:srgbClr val="000000"/>
              </a:solidFill>
              <a:effectLst/>
              <a:uFillTx/>
              <a:latin typeface="Arial"/>
            </a:endParaRPr>
          </a:p>
        </p:txBody>
      </p:sp>
      <p:sp>
        <p:nvSpPr>
          <p:cNvPr id="530" name="Rounded Rectangle 5"/>
          <p:cNvSpPr/>
          <p:nvPr/>
        </p:nvSpPr>
        <p:spPr>
          <a:xfrm>
            <a:off x="59436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31"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32" name="TextBox 7"/>
          <p:cNvSpPr/>
          <p:nvPr/>
        </p:nvSpPr>
        <p:spPr>
          <a:xfrm>
            <a:off x="77724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533" name="TextBox 8"/>
          <p:cNvSpPr/>
          <p:nvPr/>
        </p:nvSpPr>
        <p:spPr>
          <a:xfrm>
            <a:off x="77724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LỢI ÍCH GẮN BÓ</a:t>
            </a:r>
            <a:endParaRPr lang="en-US" sz="1700" b="0" u="none" strike="noStrike">
              <a:solidFill>
                <a:srgbClr val="000000"/>
              </a:solidFill>
              <a:effectLst/>
              <a:uFillTx/>
              <a:latin typeface="Arial"/>
            </a:endParaRPr>
          </a:p>
        </p:txBody>
      </p:sp>
      <p:sp>
        <p:nvSpPr>
          <p:cNvPr id="534" name="TextBox 9"/>
          <p:cNvSpPr/>
          <p:nvPr/>
        </p:nvSpPr>
        <p:spPr>
          <a:xfrm>
            <a:off x="77724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Lợi ích nhân loại không tách rời lợi ích giai cấp và dân tộc.</a:t>
            </a:r>
            <a:endParaRPr lang="en-US" sz="1700" b="0" u="none" strike="noStrike">
              <a:solidFill>
                <a:srgbClr val="000000"/>
              </a:solidFill>
              <a:effectLst/>
              <a:uFillTx/>
              <a:latin typeface="Arial"/>
            </a:endParaRPr>
          </a:p>
        </p:txBody>
      </p:sp>
      <p:sp>
        <p:nvSpPr>
          <p:cNvPr id="535" name="Rounded Rectangle 10"/>
          <p:cNvSpPr/>
          <p:nvPr/>
        </p:nvSpPr>
        <p:spPr>
          <a:xfrm>
            <a:off x="43405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36" name="Rectangle 11"/>
          <p:cNvSpPr/>
          <p:nvPr/>
        </p:nvSpPr>
        <p:spPr>
          <a:xfrm>
            <a:off x="43405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37" name="TextBox 12"/>
          <p:cNvSpPr/>
          <p:nvPr/>
        </p:nvSpPr>
        <p:spPr>
          <a:xfrm>
            <a:off x="45234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538" name="TextBox 13"/>
          <p:cNvSpPr/>
          <p:nvPr/>
        </p:nvSpPr>
        <p:spPr>
          <a:xfrm>
            <a:off x="45234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TIỀN ĐỀ TỒN TẠI</a:t>
            </a:r>
            <a:endParaRPr lang="en-US" sz="1700" b="0" u="none" strike="noStrike">
              <a:solidFill>
                <a:srgbClr val="000000"/>
              </a:solidFill>
              <a:effectLst/>
              <a:uFillTx/>
              <a:latin typeface="Arial"/>
            </a:endParaRPr>
          </a:p>
        </p:txBody>
      </p:sp>
      <p:sp>
        <p:nvSpPr>
          <p:cNvPr id="539" name="TextBox 14"/>
          <p:cNvSpPr/>
          <p:nvPr/>
        </p:nvSpPr>
        <p:spPr>
          <a:xfrm>
            <a:off x="45234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Sự tồn tại của nhân loại là điều kiện cho dân tộc và giai cấp tồn tại.</a:t>
            </a:r>
            <a:endParaRPr lang="en-US" sz="1700" b="0" u="none" strike="noStrike">
              <a:solidFill>
                <a:srgbClr val="000000"/>
              </a:solidFill>
              <a:effectLst/>
              <a:uFillTx/>
              <a:latin typeface="Arial"/>
            </a:endParaRPr>
          </a:p>
        </p:txBody>
      </p:sp>
      <p:sp>
        <p:nvSpPr>
          <p:cNvPr id="540" name="Rounded Rectangle 15"/>
          <p:cNvSpPr/>
          <p:nvPr/>
        </p:nvSpPr>
        <p:spPr>
          <a:xfrm>
            <a:off x="80863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41" name="Rectangle 16"/>
          <p:cNvSpPr/>
          <p:nvPr/>
        </p:nvSpPr>
        <p:spPr>
          <a:xfrm>
            <a:off x="80863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42" name="TextBox 17"/>
          <p:cNvSpPr/>
          <p:nvPr/>
        </p:nvSpPr>
        <p:spPr>
          <a:xfrm>
            <a:off x="82692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543" name="TextBox 18"/>
          <p:cNvSpPr/>
          <p:nvPr/>
        </p:nvSpPr>
        <p:spPr>
          <a:xfrm>
            <a:off x="82692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ĐIỀU KIỆN TIẾN BỘ</a:t>
            </a:r>
            <a:endParaRPr lang="en-US" sz="1700" b="0" u="none" strike="noStrike">
              <a:solidFill>
                <a:srgbClr val="000000"/>
              </a:solidFill>
              <a:effectLst/>
              <a:uFillTx/>
              <a:latin typeface="Arial"/>
            </a:endParaRPr>
          </a:p>
        </p:txBody>
      </p:sp>
      <p:sp>
        <p:nvSpPr>
          <p:cNvPr id="544" name="TextBox 19"/>
          <p:cNvSpPr/>
          <p:nvPr/>
        </p:nvSpPr>
        <p:spPr>
          <a:xfrm>
            <a:off x="82692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Phát triển kinh tế, chính trị, văn hóa, xã hội tạo điều kiện cho giải phóng và tiến bộ.</a:t>
            </a:r>
            <a:endParaRPr lang="en-US" sz="1700" b="0" u="none" strike="noStrike">
              <a:solidFill>
                <a:srgbClr val="000000"/>
              </a:solidFill>
              <a:effectLst/>
              <a:uFillTx/>
              <a:latin typeface="Arial"/>
            </a:endParaRPr>
          </a:p>
        </p:txBody>
      </p:sp>
      <p:sp>
        <p:nvSpPr>
          <p:cNvPr id="545" name="Rounded Rectangle 20"/>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46"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Yêu cầu: giải quyết hài hòa lợi ích giai cấp, dân tộc và lợi ích chung của nhân loại.</a:t>
            </a:r>
            <a:endParaRPr lang="en-US" sz="1200" b="0" u="none" strike="noStrike">
              <a:solidFill>
                <a:srgbClr val="000000"/>
              </a:solidFill>
              <a:effectLst/>
              <a:uFillTx/>
              <a:latin typeface="Arial"/>
            </a:endParaRPr>
          </a:p>
        </p:txBody>
      </p:sp>
      <p:sp>
        <p:nvSpPr>
          <p:cNvPr id="547"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548"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21 / 25</a:t>
            </a:r>
            <a:endParaRPr lang="en-US" sz="1000" b="0" u="none" strike="noStrike">
              <a:solidFill>
                <a:srgbClr val="000000"/>
              </a:solidFill>
              <a:effectLst/>
              <a:uFillTx/>
              <a:latin typeface="Arial"/>
            </a:endParaRPr>
          </a:p>
        </p:txBody>
      </p:sp>
    </p:spTree>
  </p:cSld>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549"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550"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551"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Liên hệ: chuyển đổi năng lượng công bằng</a:t>
            </a:r>
            <a:endParaRPr lang="en-US" sz="2800" b="0" u="none" strike="noStrike">
              <a:solidFill>
                <a:srgbClr val="000000"/>
              </a:solidFill>
              <a:effectLst/>
              <a:uFillTx/>
              <a:latin typeface="Arial"/>
            </a:endParaRPr>
          </a:p>
        </p:txBody>
      </p:sp>
      <p:sp>
        <p:nvSpPr>
          <p:cNvPr id="552"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Tình huống giả định do nhóm bổ sung • không phải ví dụ trong tài liệu</a:t>
            </a:r>
            <a:endParaRPr lang="en-US" sz="1500" b="0" u="none" strike="noStrike">
              <a:solidFill>
                <a:srgbClr val="000000"/>
              </a:solidFill>
              <a:effectLst/>
              <a:uFillTx/>
              <a:latin typeface="Arial"/>
            </a:endParaRPr>
          </a:p>
        </p:txBody>
      </p:sp>
      <p:sp>
        <p:nvSpPr>
          <p:cNvPr id="553" name="Rounded Rectangle 5"/>
          <p:cNvSpPr/>
          <p:nvPr/>
        </p:nvSpPr>
        <p:spPr>
          <a:xfrm>
            <a:off x="59436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54"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55" name="TextBox 7"/>
          <p:cNvSpPr/>
          <p:nvPr/>
        </p:nvSpPr>
        <p:spPr>
          <a:xfrm>
            <a:off x="77724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556" name="TextBox 8"/>
          <p:cNvSpPr/>
          <p:nvPr/>
        </p:nvSpPr>
        <p:spPr>
          <a:xfrm>
            <a:off x="77724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NGƯỜI LAO ĐỘNG</a:t>
            </a:r>
            <a:endParaRPr lang="en-US" sz="1700" b="0" u="none" strike="noStrike">
              <a:solidFill>
                <a:srgbClr val="000000"/>
              </a:solidFill>
              <a:effectLst/>
              <a:uFillTx/>
              <a:latin typeface="Arial"/>
            </a:endParaRPr>
          </a:p>
        </p:txBody>
      </p:sp>
      <p:sp>
        <p:nvSpPr>
          <p:cNvPr id="557" name="TextBox 9"/>
          <p:cNvSpPr/>
          <p:nvPr/>
        </p:nvSpPr>
        <p:spPr>
          <a:xfrm>
            <a:off x="77724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Quan tâm việc làm, thu nhập và khả năng học nghề mới.</a:t>
            </a:r>
            <a:endParaRPr lang="en-US" sz="1700" b="0" u="none" strike="noStrike">
              <a:solidFill>
                <a:srgbClr val="000000"/>
              </a:solidFill>
              <a:effectLst/>
              <a:uFillTx/>
              <a:latin typeface="Arial"/>
            </a:endParaRPr>
          </a:p>
        </p:txBody>
      </p:sp>
      <p:sp>
        <p:nvSpPr>
          <p:cNvPr id="558" name="Rounded Rectangle 10"/>
          <p:cNvSpPr/>
          <p:nvPr/>
        </p:nvSpPr>
        <p:spPr>
          <a:xfrm>
            <a:off x="43405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59" name="Rectangle 11"/>
          <p:cNvSpPr/>
          <p:nvPr/>
        </p:nvSpPr>
        <p:spPr>
          <a:xfrm>
            <a:off x="43405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60" name="TextBox 12"/>
          <p:cNvSpPr/>
          <p:nvPr/>
        </p:nvSpPr>
        <p:spPr>
          <a:xfrm>
            <a:off x="45234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561" name="TextBox 13"/>
          <p:cNvSpPr/>
          <p:nvPr/>
        </p:nvSpPr>
        <p:spPr>
          <a:xfrm>
            <a:off x="45234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QUỐC GIA – DÂN TỘC</a:t>
            </a:r>
            <a:endParaRPr lang="en-US" sz="1700" b="0" u="none" strike="noStrike">
              <a:solidFill>
                <a:srgbClr val="000000"/>
              </a:solidFill>
              <a:effectLst/>
              <a:uFillTx/>
              <a:latin typeface="Arial"/>
            </a:endParaRPr>
          </a:p>
        </p:txBody>
      </p:sp>
      <p:sp>
        <p:nvSpPr>
          <p:cNvPr id="562" name="TextBox 14"/>
          <p:cNvSpPr/>
          <p:nvPr/>
        </p:nvSpPr>
        <p:spPr>
          <a:xfrm>
            <a:off x="45234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Quan tâm an ninh năng lượng, ổn định và năng lực phát triển.</a:t>
            </a:r>
            <a:endParaRPr lang="en-US" sz="1700" b="0" u="none" strike="noStrike">
              <a:solidFill>
                <a:srgbClr val="000000"/>
              </a:solidFill>
              <a:effectLst/>
              <a:uFillTx/>
              <a:latin typeface="Arial"/>
            </a:endParaRPr>
          </a:p>
        </p:txBody>
      </p:sp>
      <p:sp>
        <p:nvSpPr>
          <p:cNvPr id="563" name="Rounded Rectangle 15"/>
          <p:cNvSpPr/>
          <p:nvPr/>
        </p:nvSpPr>
        <p:spPr>
          <a:xfrm>
            <a:off x="80863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64" name="Rectangle 16"/>
          <p:cNvSpPr/>
          <p:nvPr/>
        </p:nvSpPr>
        <p:spPr>
          <a:xfrm>
            <a:off x="80863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65" name="TextBox 17"/>
          <p:cNvSpPr/>
          <p:nvPr/>
        </p:nvSpPr>
        <p:spPr>
          <a:xfrm>
            <a:off x="82692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566" name="TextBox 18"/>
          <p:cNvSpPr/>
          <p:nvPr/>
        </p:nvSpPr>
        <p:spPr>
          <a:xfrm>
            <a:off x="82692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NHÂN LOẠI</a:t>
            </a:r>
            <a:endParaRPr lang="en-US" sz="1700" b="0" u="none" strike="noStrike">
              <a:solidFill>
                <a:srgbClr val="000000"/>
              </a:solidFill>
              <a:effectLst/>
              <a:uFillTx/>
              <a:latin typeface="Arial"/>
            </a:endParaRPr>
          </a:p>
        </p:txBody>
      </p:sp>
      <p:sp>
        <p:nvSpPr>
          <p:cNvPr id="567" name="TextBox 19"/>
          <p:cNvSpPr/>
          <p:nvPr/>
        </p:nvSpPr>
        <p:spPr>
          <a:xfrm>
            <a:off x="82692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Quan tâm môi trường, khí hậu và tương lai chung.</a:t>
            </a:r>
            <a:endParaRPr lang="en-US" sz="1700" b="0" u="none" strike="noStrike">
              <a:solidFill>
                <a:srgbClr val="000000"/>
              </a:solidFill>
              <a:effectLst/>
              <a:uFillTx/>
              <a:latin typeface="Arial"/>
            </a:endParaRPr>
          </a:p>
        </p:txBody>
      </p:sp>
      <p:sp>
        <p:nvSpPr>
          <p:cNvPr id="568" name="Rounded Rectangle 20"/>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69"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Gợi ý thảo luận: đào tạo lại + hỗ trợ chuyển việc + lộ trình phù hợp có thể nối ba lợi ích ra sao?</a:t>
            </a:r>
            <a:endParaRPr lang="en-US" sz="1200" b="0" u="none" strike="noStrike">
              <a:solidFill>
                <a:srgbClr val="000000"/>
              </a:solidFill>
              <a:effectLst/>
              <a:uFillTx/>
              <a:latin typeface="Arial"/>
            </a:endParaRPr>
          </a:p>
        </p:txBody>
      </p:sp>
      <p:sp>
        <p:nvSpPr>
          <p:cNvPr id="570"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571"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22 / 25</a:t>
            </a:r>
            <a:endParaRPr lang="en-US" sz="1000" b="0" u="none" strike="noStrike">
              <a:solidFill>
                <a:srgbClr val="000000"/>
              </a:solidFill>
              <a:effectLst/>
              <a:uFillTx/>
              <a:latin typeface="Arial"/>
            </a:endParaRPr>
          </a:p>
        </p:txBody>
      </p:sp>
    </p:spTree>
  </p:cSld>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C3A"/>
        </a:solidFill>
      </p:bgPr>
    </p:bg>
    <p:spTree>
      <p:nvGrpSpPr>
        <p:cNvPr id="1" name=""/>
        <p:cNvGrpSpPr/>
        <p:nvPr/>
      </p:nvGrpSpPr>
      <p:grpSpPr>
        <a:xfrm>
          <a:off x="0" y="0"/>
          <a:ext cx="0" cy="0"/>
          <a:chOff x="0" y="0"/>
          <a:chExt cx="0" cy="0"/>
        </a:xfrm>
      </p:grpSpPr>
      <p:sp>
        <p:nvSpPr>
          <p:cNvPr id="572"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573"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B8CED3"/>
                </a:solidFill>
                <a:effectLst/>
                <a:uFillTx/>
                <a:latin typeface="DejaVu Sans"/>
              </a:rPr>
              <a:t>TRIẾT HỌC MÁC – LÊNIN  /  GIAI CẤP • DÂN TỘC • NHÂN LOẠI</a:t>
            </a:r>
            <a:endParaRPr lang="en-US" sz="1000" b="0" u="none" strike="noStrike">
              <a:solidFill>
                <a:srgbClr val="FFFFFF"/>
              </a:solidFill>
              <a:effectLst/>
              <a:uFillTx/>
              <a:latin typeface="Arial"/>
            </a:endParaRPr>
          </a:p>
        </p:txBody>
      </p:sp>
      <p:sp>
        <p:nvSpPr>
          <p:cNvPr id="574"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FFFFFF"/>
                </a:solidFill>
                <a:effectLst/>
                <a:uFillTx/>
                <a:latin typeface="DejaVu Sans"/>
              </a:rPr>
              <a:t>Sơ đồ tổng hợp: từ nền tảng đến quan hệ</a:t>
            </a:r>
            <a:endParaRPr lang="en-US" sz="2800" b="0" u="none" strike="noStrike">
              <a:solidFill>
                <a:srgbClr val="FFFFFF"/>
              </a:solidFill>
              <a:effectLst/>
              <a:uFillTx/>
              <a:latin typeface="Arial"/>
            </a:endParaRPr>
          </a:p>
        </p:txBody>
      </p:sp>
      <p:sp>
        <p:nvSpPr>
          <p:cNvPr id="575"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B8CED3"/>
                </a:solidFill>
                <a:effectLst/>
                <a:uFillTx/>
                <a:latin typeface="DejaVu Sans"/>
              </a:rPr>
              <a:t>Năm từ khóa để nhớ toàn bộ bài</a:t>
            </a:r>
            <a:endParaRPr lang="en-US" sz="1500" b="0" u="none" strike="noStrike">
              <a:solidFill>
                <a:srgbClr val="FFFFFF"/>
              </a:solidFill>
              <a:effectLst/>
              <a:uFillTx/>
              <a:latin typeface="Arial"/>
            </a:endParaRPr>
          </a:p>
        </p:txBody>
      </p:sp>
      <p:sp>
        <p:nvSpPr>
          <p:cNvPr id="576" name="Rounded Rectangle 5"/>
          <p:cNvSpPr/>
          <p:nvPr/>
        </p:nvSpPr>
        <p:spPr>
          <a:xfrm>
            <a:off x="594360" y="3429000"/>
            <a:ext cx="1919880" cy="1051200"/>
          </a:xfrm>
          <a:prstGeom prst="roundRect">
            <a:avLst>
              <a:gd name="adj" fmla="val 16667"/>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77" name="TextBox 6"/>
          <p:cNvSpPr/>
          <p:nvPr/>
        </p:nvSpPr>
        <p:spPr>
          <a:xfrm>
            <a:off x="777240" y="3620880"/>
            <a:ext cx="1599840" cy="7311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800" b="1" u="none" strike="noStrike">
                <a:solidFill>
                  <a:srgbClr val="FFFFFF"/>
                </a:solidFill>
                <a:effectLst/>
                <a:uFillTx/>
                <a:latin typeface="DejaVu Sans"/>
              </a:rPr>
              <a:t>XÃ HỘI</a:t>
            </a:r>
            <a:endParaRPr lang="en-US" sz="1800" b="0" u="none" strike="noStrike">
              <a:solidFill>
                <a:srgbClr val="FFFFFF"/>
              </a:solidFill>
              <a:effectLst/>
              <a:uFillTx/>
              <a:latin typeface="Arial"/>
            </a:endParaRPr>
          </a:p>
          <a:p>
            <a:pPr defTabSz="457200">
              <a:lnSpc>
                <a:spcPct val="100000"/>
              </a:lnSpc>
              <a:spcAft>
                <a:spcPts val="700"/>
              </a:spcAft>
            </a:pPr>
            <a:r>
              <a:rPr lang="en-US" sz="1800" b="1" u="none" strike="noStrike">
                <a:solidFill>
                  <a:srgbClr val="FFFFFF"/>
                </a:solidFill>
                <a:effectLst/>
                <a:uFillTx/>
                <a:latin typeface="DejaVu Sans"/>
              </a:rPr>
              <a:t>&amp; CON NGƯỜI</a:t>
            </a:r>
            <a:endParaRPr lang="en-US" sz="1800" b="0" u="none" strike="noStrike">
              <a:solidFill>
                <a:srgbClr val="FFFFFF"/>
              </a:solidFill>
              <a:effectLst/>
              <a:uFillTx/>
              <a:latin typeface="Arial"/>
            </a:endParaRPr>
          </a:p>
        </p:txBody>
      </p:sp>
      <p:cxnSp>
        <p:nvCxnSpPr>
          <p:cNvPr id="578" name="Connector 7"/>
          <p:cNvCxnSpPr/>
          <p:nvPr/>
        </p:nvCxnSpPr>
        <p:spPr>
          <a:xfrm flipV="1">
            <a:off x="2514600" y="3085920"/>
            <a:ext cx="549000" cy="846360"/>
          </a:xfrm>
          <a:prstGeom prst="straightConnector1">
            <a:avLst/>
          </a:prstGeom>
          <a:ln>
            <a:solidFill>
              <a:srgbClr val="427782"/>
            </a:solidFill>
            <a:round/>
          </a:ln>
        </p:spPr>
      </p:cxnSp>
      <p:sp>
        <p:nvSpPr>
          <p:cNvPr id="579" name="Rounded Rectangle 8"/>
          <p:cNvSpPr/>
          <p:nvPr/>
        </p:nvSpPr>
        <p:spPr>
          <a:xfrm>
            <a:off x="3063240" y="2697480"/>
            <a:ext cx="3885840" cy="77688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80" name="TextBox 9"/>
          <p:cNvSpPr/>
          <p:nvPr/>
        </p:nvSpPr>
        <p:spPr>
          <a:xfrm>
            <a:off x="3173040" y="2761560"/>
            <a:ext cx="3666240" cy="2923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400" b="1" u="none" strike="noStrike">
                <a:solidFill>
                  <a:srgbClr val="DFA54B"/>
                </a:solidFill>
                <a:effectLst/>
                <a:uFillTx/>
                <a:latin typeface="DejaVu Sans"/>
              </a:rPr>
              <a:t>SẢN XUẤT</a:t>
            </a:r>
            <a:endParaRPr lang="en-US" sz="1400" b="0" u="none" strike="noStrike">
              <a:solidFill>
                <a:srgbClr val="FFFFFF"/>
              </a:solidFill>
              <a:effectLst/>
              <a:uFillTx/>
              <a:latin typeface="Arial"/>
            </a:endParaRPr>
          </a:p>
        </p:txBody>
      </p:sp>
      <p:sp>
        <p:nvSpPr>
          <p:cNvPr id="581" name="TextBox 10"/>
          <p:cNvSpPr/>
          <p:nvPr/>
        </p:nvSpPr>
        <p:spPr>
          <a:xfrm>
            <a:off x="3173040" y="3090600"/>
            <a:ext cx="3666240" cy="3837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FFFFFF"/>
                </a:solidFill>
                <a:effectLst/>
                <a:uFillTx/>
                <a:latin typeface="DejaVu Sans"/>
              </a:rPr>
              <a:t>Nguồn gốc và địa vị giai cấp.</a:t>
            </a:r>
            <a:endParaRPr lang="en-US" sz="1200" b="0" u="none" strike="noStrike">
              <a:solidFill>
                <a:srgbClr val="FFFFFF"/>
              </a:solidFill>
              <a:effectLst/>
              <a:uFillTx/>
              <a:latin typeface="Arial"/>
            </a:endParaRPr>
          </a:p>
        </p:txBody>
      </p:sp>
      <p:cxnSp>
        <p:nvCxnSpPr>
          <p:cNvPr id="582" name="Connector 11"/>
          <p:cNvCxnSpPr/>
          <p:nvPr/>
        </p:nvCxnSpPr>
        <p:spPr>
          <a:xfrm flipV="1">
            <a:off x="2514600" y="3085920"/>
            <a:ext cx="4709520" cy="846360"/>
          </a:xfrm>
          <a:prstGeom prst="straightConnector1">
            <a:avLst/>
          </a:prstGeom>
          <a:ln>
            <a:solidFill>
              <a:srgbClr val="427782"/>
            </a:solidFill>
            <a:round/>
          </a:ln>
        </p:spPr>
      </p:cxnSp>
      <p:sp>
        <p:nvSpPr>
          <p:cNvPr id="583" name="Rounded Rectangle 12"/>
          <p:cNvSpPr/>
          <p:nvPr/>
        </p:nvSpPr>
        <p:spPr>
          <a:xfrm>
            <a:off x="7223760" y="2697480"/>
            <a:ext cx="3885840" cy="77688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84" name="TextBox 13"/>
          <p:cNvSpPr/>
          <p:nvPr/>
        </p:nvSpPr>
        <p:spPr>
          <a:xfrm>
            <a:off x="7333560" y="2761560"/>
            <a:ext cx="3666240" cy="2923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400" b="1" u="none" strike="noStrike">
                <a:solidFill>
                  <a:srgbClr val="DFA54B"/>
                </a:solidFill>
                <a:effectLst/>
                <a:uFillTx/>
                <a:latin typeface="DejaVu Sans"/>
              </a:rPr>
              <a:t>CỘNG ĐỒNG</a:t>
            </a:r>
            <a:endParaRPr lang="en-US" sz="1400" b="0" u="none" strike="noStrike">
              <a:solidFill>
                <a:srgbClr val="FFFFFF"/>
              </a:solidFill>
              <a:effectLst/>
              <a:uFillTx/>
              <a:latin typeface="Arial"/>
            </a:endParaRPr>
          </a:p>
        </p:txBody>
      </p:sp>
      <p:sp>
        <p:nvSpPr>
          <p:cNvPr id="585" name="TextBox 14"/>
          <p:cNvSpPr/>
          <p:nvPr/>
        </p:nvSpPr>
        <p:spPr>
          <a:xfrm>
            <a:off x="7333560" y="3090600"/>
            <a:ext cx="3666240" cy="3837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FFFFFF"/>
                </a:solidFill>
                <a:effectLst/>
                <a:uFillTx/>
                <a:latin typeface="DejaVu Sans"/>
              </a:rPr>
              <a:t>Thị tộc → bộ lạc → bộ tộc → dân tộc.</a:t>
            </a:r>
            <a:endParaRPr lang="en-US" sz="1200" b="0" u="none" strike="noStrike">
              <a:solidFill>
                <a:srgbClr val="FFFFFF"/>
              </a:solidFill>
              <a:effectLst/>
              <a:uFillTx/>
              <a:latin typeface="Arial"/>
            </a:endParaRPr>
          </a:p>
        </p:txBody>
      </p:sp>
      <p:cxnSp>
        <p:nvCxnSpPr>
          <p:cNvPr id="586" name="Connector 15"/>
          <p:cNvCxnSpPr/>
          <p:nvPr/>
        </p:nvCxnSpPr>
        <p:spPr>
          <a:xfrm>
            <a:off x="2514600" y="3931920"/>
            <a:ext cx="549000" cy="114480"/>
          </a:xfrm>
          <a:prstGeom prst="straightConnector1">
            <a:avLst/>
          </a:prstGeom>
          <a:ln>
            <a:solidFill>
              <a:srgbClr val="427782"/>
            </a:solidFill>
            <a:round/>
          </a:ln>
        </p:spPr>
      </p:cxnSp>
      <p:sp>
        <p:nvSpPr>
          <p:cNvPr id="587" name="Rounded Rectangle 16"/>
          <p:cNvSpPr/>
          <p:nvPr/>
        </p:nvSpPr>
        <p:spPr>
          <a:xfrm>
            <a:off x="3063240" y="3657600"/>
            <a:ext cx="3885840" cy="77688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88" name="TextBox 17"/>
          <p:cNvSpPr/>
          <p:nvPr/>
        </p:nvSpPr>
        <p:spPr>
          <a:xfrm>
            <a:off x="3173040" y="3721680"/>
            <a:ext cx="3666240" cy="2923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400" b="1" u="none" strike="noStrike">
                <a:solidFill>
                  <a:srgbClr val="DFA54B"/>
                </a:solidFill>
                <a:effectLst/>
                <a:uFillTx/>
                <a:latin typeface="DejaVu Sans"/>
              </a:rPr>
              <a:t>ĐẤU TRANH</a:t>
            </a:r>
            <a:endParaRPr lang="en-US" sz="1400" b="0" u="none" strike="noStrike">
              <a:solidFill>
                <a:srgbClr val="FFFFFF"/>
              </a:solidFill>
              <a:effectLst/>
              <a:uFillTx/>
              <a:latin typeface="Arial"/>
            </a:endParaRPr>
          </a:p>
        </p:txBody>
      </p:sp>
      <p:sp>
        <p:nvSpPr>
          <p:cNvPr id="589" name="TextBox 18"/>
          <p:cNvSpPr/>
          <p:nvPr/>
        </p:nvSpPr>
        <p:spPr>
          <a:xfrm>
            <a:off x="3173040" y="4050720"/>
            <a:ext cx="3666240" cy="3837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FFFFFF"/>
                </a:solidFill>
                <a:effectLst/>
                <a:uFillTx/>
                <a:latin typeface="DejaVu Sans"/>
              </a:rPr>
              <a:t>Kinh tế • chính trị • tư tưởng; bảo vệ và xây dựng.</a:t>
            </a:r>
            <a:endParaRPr lang="en-US" sz="1200" b="0" u="none" strike="noStrike">
              <a:solidFill>
                <a:srgbClr val="FFFFFF"/>
              </a:solidFill>
              <a:effectLst/>
              <a:uFillTx/>
              <a:latin typeface="Arial"/>
            </a:endParaRPr>
          </a:p>
        </p:txBody>
      </p:sp>
      <p:cxnSp>
        <p:nvCxnSpPr>
          <p:cNvPr id="590" name="Connector 19"/>
          <p:cNvCxnSpPr/>
          <p:nvPr/>
        </p:nvCxnSpPr>
        <p:spPr>
          <a:xfrm>
            <a:off x="2514600" y="3931920"/>
            <a:ext cx="4709520" cy="114480"/>
          </a:xfrm>
          <a:prstGeom prst="straightConnector1">
            <a:avLst/>
          </a:prstGeom>
          <a:ln>
            <a:solidFill>
              <a:srgbClr val="427782"/>
            </a:solidFill>
            <a:round/>
          </a:ln>
        </p:spPr>
      </p:cxnSp>
      <p:sp>
        <p:nvSpPr>
          <p:cNvPr id="591" name="Rounded Rectangle 20"/>
          <p:cNvSpPr/>
          <p:nvPr/>
        </p:nvSpPr>
        <p:spPr>
          <a:xfrm>
            <a:off x="7223760" y="3657600"/>
            <a:ext cx="3885840" cy="77688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92" name="TextBox 21"/>
          <p:cNvSpPr/>
          <p:nvPr/>
        </p:nvSpPr>
        <p:spPr>
          <a:xfrm>
            <a:off x="7333560" y="3721680"/>
            <a:ext cx="3666240" cy="2923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400" b="1" u="none" strike="noStrike">
                <a:solidFill>
                  <a:srgbClr val="DFA54B"/>
                </a:solidFill>
                <a:effectLst/>
                <a:uFillTx/>
                <a:latin typeface="DejaVu Sans"/>
              </a:rPr>
              <a:t>TÁC ĐỘNG QUA LẠI</a:t>
            </a:r>
            <a:endParaRPr lang="en-US" sz="1400" b="0" u="none" strike="noStrike">
              <a:solidFill>
                <a:srgbClr val="FFFFFF"/>
              </a:solidFill>
              <a:effectLst/>
              <a:uFillTx/>
              <a:latin typeface="Arial"/>
            </a:endParaRPr>
          </a:p>
        </p:txBody>
      </p:sp>
      <p:sp>
        <p:nvSpPr>
          <p:cNvPr id="593" name="TextBox 22"/>
          <p:cNvSpPr/>
          <p:nvPr/>
        </p:nvSpPr>
        <p:spPr>
          <a:xfrm>
            <a:off x="7333560" y="4050720"/>
            <a:ext cx="3666240" cy="3837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FFFFFF"/>
                </a:solidFill>
                <a:effectLst/>
                <a:uFillTx/>
                <a:latin typeface="DejaVu Sans"/>
              </a:rPr>
              <a:t>Giai cấp ↔ dân tộc ↔ nhân loại.</a:t>
            </a:r>
            <a:endParaRPr lang="en-US" sz="1200" b="0" u="none" strike="noStrike">
              <a:solidFill>
                <a:srgbClr val="FFFFFF"/>
              </a:solidFill>
              <a:effectLst/>
              <a:uFillTx/>
              <a:latin typeface="Arial"/>
            </a:endParaRPr>
          </a:p>
        </p:txBody>
      </p:sp>
      <p:cxnSp>
        <p:nvCxnSpPr>
          <p:cNvPr id="594" name="Connector 23"/>
          <p:cNvCxnSpPr/>
          <p:nvPr/>
        </p:nvCxnSpPr>
        <p:spPr>
          <a:xfrm>
            <a:off x="2514600" y="3931920"/>
            <a:ext cx="549000" cy="1074600"/>
          </a:xfrm>
          <a:prstGeom prst="straightConnector1">
            <a:avLst/>
          </a:prstGeom>
          <a:ln>
            <a:solidFill>
              <a:srgbClr val="427782"/>
            </a:solidFill>
            <a:round/>
          </a:ln>
        </p:spPr>
      </p:cxnSp>
      <p:sp>
        <p:nvSpPr>
          <p:cNvPr id="595" name="Rounded Rectangle 24"/>
          <p:cNvSpPr/>
          <p:nvPr/>
        </p:nvSpPr>
        <p:spPr>
          <a:xfrm>
            <a:off x="3063240" y="4617720"/>
            <a:ext cx="3885840" cy="77688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96" name="TextBox 25"/>
          <p:cNvSpPr/>
          <p:nvPr/>
        </p:nvSpPr>
        <p:spPr>
          <a:xfrm>
            <a:off x="3173040" y="4681800"/>
            <a:ext cx="3666240" cy="2923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400" b="1" u="none" strike="noStrike">
                <a:solidFill>
                  <a:srgbClr val="DFA54B"/>
                </a:solidFill>
                <a:effectLst/>
                <a:uFillTx/>
                <a:latin typeface="DejaVu Sans"/>
              </a:rPr>
              <a:t>HÀI HÒA LỢI ÍCH</a:t>
            </a:r>
            <a:endParaRPr lang="en-US" sz="1400" b="0" u="none" strike="noStrike">
              <a:solidFill>
                <a:srgbClr val="FFFFFF"/>
              </a:solidFill>
              <a:effectLst/>
              <a:uFillTx/>
              <a:latin typeface="Arial"/>
            </a:endParaRPr>
          </a:p>
        </p:txBody>
      </p:sp>
      <p:sp>
        <p:nvSpPr>
          <p:cNvPr id="597" name="TextBox 26"/>
          <p:cNvSpPr/>
          <p:nvPr/>
        </p:nvSpPr>
        <p:spPr>
          <a:xfrm>
            <a:off x="3173040" y="5010840"/>
            <a:ext cx="3666240" cy="3837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FFFFFF"/>
                </a:solidFill>
                <a:effectLst/>
                <a:uFillTx/>
                <a:latin typeface="DejaVu Sans"/>
              </a:rPr>
              <a:t>Khác biệt, hợp tác và mục tiêu tiến bộ chung.</a:t>
            </a:r>
            <a:endParaRPr lang="en-US" sz="1200" b="0" u="none" strike="noStrike">
              <a:solidFill>
                <a:srgbClr val="FFFFFF"/>
              </a:solidFill>
              <a:effectLst/>
              <a:uFillTx/>
              <a:latin typeface="Arial"/>
            </a:endParaRPr>
          </a:p>
        </p:txBody>
      </p:sp>
      <p:sp>
        <p:nvSpPr>
          <p:cNvPr id="598" name="Rounded Rectangle 27"/>
          <p:cNvSpPr/>
          <p:nvPr/>
        </p:nvSpPr>
        <p:spPr>
          <a:xfrm>
            <a:off x="594360" y="5852160"/>
            <a:ext cx="11009160" cy="49356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99" name="TextBox 28"/>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FFFFFF"/>
                </a:solidFill>
                <a:effectLst/>
                <a:uFillTx/>
                <a:latin typeface="DejaVu Sans"/>
              </a:rPr>
              <a:t>Liên hệ các nhánh; tránh học các khái niệm như những danh sách rời nhau.</a:t>
            </a:r>
            <a:endParaRPr lang="en-US" sz="1200" b="0" u="none" strike="noStrike">
              <a:solidFill>
                <a:srgbClr val="FFFFFF"/>
              </a:solidFill>
              <a:effectLst/>
              <a:uFillTx/>
              <a:latin typeface="Arial"/>
            </a:endParaRPr>
          </a:p>
        </p:txBody>
      </p:sp>
      <p:sp>
        <p:nvSpPr>
          <p:cNvPr id="600" name="TextBox 29"/>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B8CED3"/>
                </a:solidFill>
                <a:effectLst/>
                <a:uFillTx/>
                <a:latin typeface="DejaVu Sans"/>
              </a:rPr>
              <a:t>NGUỒN: triet.docx  •  Diễn đạt, sơ đồ: nhóm biên tập</a:t>
            </a:r>
            <a:endParaRPr lang="en-US" sz="900" b="0" u="none" strike="noStrike">
              <a:solidFill>
                <a:srgbClr val="FFFFFF"/>
              </a:solidFill>
              <a:effectLst/>
              <a:uFillTx/>
              <a:latin typeface="Arial"/>
            </a:endParaRPr>
          </a:p>
        </p:txBody>
      </p:sp>
      <p:sp>
        <p:nvSpPr>
          <p:cNvPr id="601" name="TextBox 30"/>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DFA54B"/>
                </a:solidFill>
                <a:effectLst/>
                <a:uFillTx/>
                <a:latin typeface="DejaVu Sans"/>
              </a:rPr>
              <a:t>23 / 25</a:t>
            </a:r>
            <a:endParaRPr lang="en-US" sz="1000" b="0" u="none" strike="noStrike">
              <a:solidFill>
                <a:srgbClr val="FFFFFF"/>
              </a:solidFill>
              <a:effectLst/>
              <a:uFillTx/>
              <a:latin typeface="Arial"/>
            </a:endParaRPr>
          </a:p>
        </p:txBody>
      </p:sp>
    </p:spTree>
  </p:cSld>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E"/>
        </a:solidFill>
      </p:bgPr>
    </p:bg>
    <p:spTree>
      <p:nvGrpSpPr>
        <p:cNvPr id="1" name=""/>
        <p:cNvGrpSpPr/>
        <p:nvPr/>
      </p:nvGrpSpPr>
      <p:grpSpPr>
        <a:xfrm>
          <a:off x="0" y="0"/>
          <a:ext cx="0" cy="0"/>
          <a:chOff x="0" y="0"/>
          <a:chExt cx="0" cy="0"/>
        </a:xfrm>
      </p:grpSpPr>
      <p:sp>
        <p:nvSpPr>
          <p:cNvPr id="602"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603"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TRIẾT HỌC MÁC – LÊNIN  /  GIAI CẤP • DÂN TỘC • NHÂN LOẠI</a:t>
            </a:r>
            <a:endParaRPr lang="en-US" sz="1000" b="0" u="none" strike="noStrike">
              <a:solidFill>
                <a:srgbClr val="000000"/>
              </a:solidFill>
              <a:effectLst/>
              <a:uFillTx/>
              <a:latin typeface="Arial"/>
            </a:endParaRPr>
          </a:p>
        </p:txBody>
      </p:sp>
      <p:sp>
        <p:nvSpPr>
          <p:cNvPr id="604"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2800" b="1" u="none" strike="noStrike">
                <a:solidFill>
                  <a:srgbClr val="173440"/>
                </a:solidFill>
                <a:effectLst/>
                <a:uFillTx/>
                <a:latin typeface="DejaVu Sans"/>
              </a:rPr>
              <a:t>Kết luận: ba điều cần giữ lại</a:t>
            </a:r>
            <a:endParaRPr lang="en-US" sz="2800" b="0" u="none" strike="noStrike">
              <a:solidFill>
                <a:srgbClr val="000000"/>
              </a:solidFill>
              <a:effectLst/>
              <a:uFillTx/>
              <a:latin typeface="Arial"/>
            </a:endParaRPr>
          </a:p>
        </p:txBody>
      </p:sp>
      <p:sp>
        <p:nvSpPr>
          <p:cNvPr id="605"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536B75"/>
                </a:solidFill>
                <a:effectLst/>
                <a:uFillTx/>
                <a:latin typeface="DejaVu Sans"/>
              </a:rPr>
              <a:t>Chốt kiến thức và kiểm tra mức độ hiểu</a:t>
            </a:r>
            <a:endParaRPr lang="en-US" sz="1500" b="0" u="none" strike="noStrike">
              <a:solidFill>
                <a:srgbClr val="000000"/>
              </a:solidFill>
              <a:effectLst/>
              <a:uFillTx/>
              <a:latin typeface="Arial"/>
            </a:endParaRPr>
          </a:p>
        </p:txBody>
      </p:sp>
      <p:sp>
        <p:nvSpPr>
          <p:cNvPr id="606" name="Rounded Rectangle 5"/>
          <p:cNvSpPr/>
          <p:nvPr/>
        </p:nvSpPr>
        <p:spPr>
          <a:xfrm>
            <a:off x="59436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07" name="Rectangle 6"/>
          <p:cNvSpPr/>
          <p:nvPr/>
        </p:nvSpPr>
        <p:spPr>
          <a:xfrm>
            <a:off x="59436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08" name="TextBox 7"/>
          <p:cNvSpPr/>
          <p:nvPr/>
        </p:nvSpPr>
        <p:spPr>
          <a:xfrm>
            <a:off x="77724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01</a:t>
            </a:r>
            <a:endParaRPr lang="en-US" sz="1200" b="0" u="none" strike="noStrike">
              <a:solidFill>
                <a:srgbClr val="000000"/>
              </a:solidFill>
              <a:effectLst/>
              <a:uFillTx/>
              <a:latin typeface="Arial"/>
            </a:endParaRPr>
          </a:p>
        </p:txBody>
      </p:sp>
      <p:sp>
        <p:nvSpPr>
          <p:cNvPr id="609" name="TextBox 8"/>
          <p:cNvSpPr/>
          <p:nvPr/>
        </p:nvSpPr>
        <p:spPr>
          <a:xfrm>
            <a:off x="77724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01 • ĐÚNG KHÁI NIỆM</a:t>
            </a:r>
            <a:endParaRPr lang="en-US" sz="1700" b="0" u="none" strike="noStrike">
              <a:solidFill>
                <a:srgbClr val="000000"/>
              </a:solidFill>
              <a:effectLst/>
              <a:uFillTx/>
              <a:latin typeface="Arial"/>
            </a:endParaRPr>
          </a:p>
        </p:txBody>
      </p:sp>
      <p:sp>
        <p:nvSpPr>
          <p:cNvPr id="610" name="TextBox 9"/>
          <p:cNvSpPr/>
          <p:nvPr/>
        </p:nvSpPr>
        <p:spPr>
          <a:xfrm>
            <a:off x="77724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Giai cấp gắn với quan hệ sản xuất; dân tộc cần xác định nghĩa đang dùng.</a:t>
            </a:r>
            <a:endParaRPr lang="en-US" sz="1700" b="0" u="none" strike="noStrike">
              <a:solidFill>
                <a:srgbClr val="000000"/>
              </a:solidFill>
              <a:effectLst/>
              <a:uFillTx/>
              <a:latin typeface="Arial"/>
            </a:endParaRPr>
          </a:p>
        </p:txBody>
      </p:sp>
      <p:sp>
        <p:nvSpPr>
          <p:cNvPr id="611" name="Rounded Rectangle 10"/>
          <p:cNvSpPr/>
          <p:nvPr/>
        </p:nvSpPr>
        <p:spPr>
          <a:xfrm>
            <a:off x="43405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12" name="Rectangle 11"/>
          <p:cNvSpPr/>
          <p:nvPr/>
        </p:nvSpPr>
        <p:spPr>
          <a:xfrm>
            <a:off x="43405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13" name="TextBox 12"/>
          <p:cNvSpPr/>
          <p:nvPr/>
        </p:nvSpPr>
        <p:spPr>
          <a:xfrm>
            <a:off x="45234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02</a:t>
            </a:r>
            <a:endParaRPr lang="en-US" sz="1200" b="0" u="none" strike="noStrike">
              <a:solidFill>
                <a:srgbClr val="000000"/>
              </a:solidFill>
              <a:effectLst/>
              <a:uFillTx/>
              <a:latin typeface="Arial"/>
            </a:endParaRPr>
          </a:p>
        </p:txBody>
      </p:sp>
      <p:sp>
        <p:nvSpPr>
          <p:cNvPr id="614" name="TextBox 13"/>
          <p:cNvSpPr/>
          <p:nvPr/>
        </p:nvSpPr>
        <p:spPr>
          <a:xfrm>
            <a:off x="45234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02 • ĐÚNG ĐIỀU KIỆN</a:t>
            </a:r>
            <a:endParaRPr lang="en-US" sz="1700" b="0" u="none" strike="noStrike">
              <a:solidFill>
                <a:srgbClr val="000000"/>
              </a:solidFill>
              <a:effectLst/>
              <a:uFillTx/>
              <a:latin typeface="Arial"/>
            </a:endParaRPr>
          </a:p>
        </p:txBody>
      </p:sp>
      <p:sp>
        <p:nvSpPr>
          <p:cNvPr id="615" name="TextBox 14"/>
          <p:cNvSpPr/>
          <p:nvPr/>
        </p:nvSpPr>
        <p:spPr>
          <a:xfrm>
            <a:off x="45234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Hình thành cộng đồng và đấu tranh phải đặt trong bối cảnh lịch sử cụ thể.</a:t>
            </a:r>
            <a:endParaRPr lang="en-US" sz="1700" b="0" u="none" strike="noStrike">
              <a:solidFill>
                <a:srgbClr val="000000"/>
              </a:solidFill>
              <a:effectLst/>
              <a:uFillTx/>
              <a:latin typeface="Arial"/>
            </a:endParaRPr>
          </a:p>
        </p:txBody>
      </p:sp>
      <p:sp>
        <p:nvSpPr>
          <p:cNvPr id="616" name="Rounded Rectangle 15"/>
          <p:cNvSpPr/>
          <p:nvPr/>
        </p:nvSpPr>
        <p:spPr>
          <a:xfrm>
            <a:off x="8086320" y="2697480"/>
            <a:ext cx="3526200" cy="2907360"/>
          </a:xfrm>
          <a:prstGeom prst="roundRect">
            <a:avLst>
              <a:gd name="adj" fmla="val 16667"/>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17" name="Rectangle 16"/>
          <p:cNvSpPr/>
          <p:nvPr/>
        </p:nvSpPr>
        <p:spPr>
          <a:xfrm>
            <a:off x="8086320" y="2697480"/>
            <a:ext cx="50040" cy="2907360"/>
          </a:xfrm>
          <a:prstGeom prst="rect">
            <a:avLst/>
          </a:prstGeom>
          <a:solidFill>
            <a:srgbClr val="007F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18" name="TextBox 17"/>
          <p:cNvSpPr/>
          <p:nvPr/>
        </p:nvSpPr>
        <p:spPr>
          <a:xfrm>
            <a:off x="8269200" y="2843640"/>
            <a:ext cx="316044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007F82"/>
                </a:solidFill>
                <a:effectLst/>
                <a:uFillTx/>
                <a:latin typeface="DejaVu Sans"/>
              </a:rPr>
              <a:t>03</a:t>
            </a:r>
            <a:endParaRPr lang="en-US" sz="1200" b="0" u="none" strike="noStrike">
              <a:solidFill>
                <a:srgbClr val="000000"/>
              </a:solidFill>
              <a:effectLst/>
              <a:uFillTx/>
              <a:latin typeface="Arial"/>
            </a:endParaRPr>
          </a:p>
        </p:txBody>
      </p:sp>
      <p:sp>
        <p:nvSpPr>
          <p:cNvPr id="619" name="TextBox 18"/>
          <p:cNvSpPr/>
          <p:nvPr/>
        </p:nvSpPr>
        <p:spPr>
          <a:xfrm>
            <a:off x="8269200" y="3136320"/>
            <a:ext cx="316044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173440"/>
                </a:solidFill>
                <a:effectLst/>
                <a:uFillTx/>
                <a:latin typeface="DejaVu Sans"/>
              </a:rPr>
              <a:t>03 • ĐÚNG MỐI QUAN HỆ</a:t>
            </a:r>
            <a:endParaRPr lang="en-US" sz="1700" b="0" u="none" strike="noStrike">
              <a:solidFill>
                <a:srgbClr val="000000"/>
              </a:solidFill>
              <a:effectLst/>
              <a:uFillTx/>
              <a:latin typeface="Arial"/>
            </a:endParaRPr>
          </a:p>
        </p:txBody>
      </p:sp>
      <p:sp>
        <p:nvSpPr>
          <p:cNvPr id="620" name="TextBox 19"/>
          <p:cNvSpPr/>
          <p:nvPr/>
        </p:nvSpPr>
        <p:spPr>
          <a:xfrm>
            <a:off x="8269200" y="3758040"/>
            <a:ext cx="316044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536B75"/>
                </a:solidFill>
                <a:effectLst/>
                <a:uFillTx/>
                <a:latin typeface="DejaVu Sans"/>
              </a:rPr>
              <a:t>Lợi ích giai cấp, dân tộc, nhân loại vừa gắn bó vừa tác động qua lại.</a:t>
            </a:r>
            <a:endParaRPr lang="en-US" sz="1700" b="0" u="none" strike="noStrike">
              <a:solidFill>
                <a:srgbClr val="000000"/>
              </a:solidFill>
              <a:effectLst/>
              <a:uFillTx/>
              <a:latin typeface="Arial"/>
            </a:endParaRPr>
          </a:p>
        </p:txBody>
      </p:sp>
      <p:sp>
        <p:nvSpPr>
          <p:cNvPr id="621" name="Rounded Rectangle 20"/>
          <p:cNvSpPr/>
          <p:nvPr/>
        </p:nvSpPr>
        <p:spPr>
          <a:xfrm>
            <a:off x="594360" y="5852160"/>
            <a:ext cx="11009160" cy="493560"/>
          </a:xfrm>
          <a:prstGeom prst="roundRect">
            <a:avLst>
              <a:gd name="adj" fmla="val 16667"/>
            </a:avLst>
          </a:prstGeom>
          <a:solidFill>
            <a:srgbClr val="E4EBE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22" name="TextBox 21"/>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173440"/>
                </a:solidFill>
                <a:effectLst/>
                <a:uFillTx/>
                <a:latin typeface="DejaVu Sans"/>
              </a:rPr>
              <a:t>Câu hỏi: Vì sao không thể dùng “mỗi tộc người có một nhà nước riêng” để mô tả mọi dân tộc?</a:t>
            </a:r>
            <a:endParaRPr lang="en-US" sz="1200" b="0" u="none" strike="noStrike">
              <a:solidFill>
                <a:srgbClr val="000000"/>
              </a:solidFill>
              <a:effectLst/>
              <a:uFillTx/>
              <a:latin typeface="Arial"/>
            </a:endParaRPr>
          </a:p>
        </p:txBody>
      </p:sp>
      <p:sp>
        <p:nvSpPr>
          <p:cNvPr id="623" name="TextBox 22"/>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536B75"/>
                </a:solidFill>
                <a:effectLst/>
                <a:uFillTx/>
                <a:latin typeface="DejaVu Sans"/>
              </a:rPr>
              <a:t>NGUỒN: triet.docx  •  Diễn đạt, sơ đồ: nhóm biên tập</a:t>
            </a:r>
            <a:endParaRPr lang="en-US" sz="900" b="0" u="none" strike="noStrike">
              <a:solidFill>
                <a:srgbClr val="000000"/>
              </a:solidFill>
              <a:effectLst/>
              <a:uFillTx/>
              <a:latin typeface="Arial"/>
            </a:endParaRPr>
          </a:p>
        </p:txBody>
      </p:sp>
      <p:sp>
        <p:nvSpPr>
          <p:cNvPr id="624" name="TextBox 23"/>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007F82"/>
                </a:solidFill>
                <a:effectLst/>
                <a:uFillTx/>
                <a:latin typeface="DejaVu Sans"/>
              </a:rPr>
              <a:t>24 / 25</a:t>
            </a:r>
            <a:endParaRPr lang="en-US" sz="1000" b="0" u="none" strike="noStrike">
              <a:solidFill>
                <a:srgbClr val="000000"/>
              </a:solidFill>
              <a:effectLst/>
              <a:uFillTx/>
              <a:latin typeface="Arial"/>
            </a:endParaRPr>
          </a:p>
        </p:txBody>
      </p:sp>
    </p:spTree>
  </p:cSld>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C3A"/>
        </a:solidFill>
      </p:bgPr>
    </p:bg>
    <p:spTree>
      <p:nvGrpSpPr>
        <p:cNvPr id="1" name=""/>
        <p:cNvGrpSpPr/>
        <p:nvPr/>
      </p:nvGrpSpPr>
      <p:grpSpPr>
        <a:xfrm>
          <a:off x="0" y="0"/>
          <a:ext cx="0" cy="0"/>
          <a:chOff x="0" y="0"/>
          <a:chExt cx="0" cy="0"/>
        </a:xfrm>
      </p:grpSpPr>
      <p:sp>
        <p:nvSpPr>
          <p:cNvPr id="625" name="Rectangle 1"/>
          <p:cNvSpPr/>
          <p:nvPr/>
        </p:nvSpPr>
        <p:spPr>
          <a:xfrm>
            <a:off x="457200" y="365760"/>
            <a:ext cx="438480" cy="6372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626" name="TextBox 2"/>
          <p:cNvSpPr/>
          <p:nvPr/>
        </p:nvSpPr>
        <p:spPr>
          <a:xfrm>
            <a:off x="1005840" y="255960"/>
            <a:ext cx="91436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B8CED3"/>
                </a:solidFill>
                <a:effectLst/>
                <a:uFillTx/>
                <a:latin typeface="DejaVu Sans"/>
              </a:rPr>
              <a:t>TRIẾT HỌC MÁC – LÊNIN  /  GIAI CẤP • DÂN TỘC • NHÂN LOẠI</a:t>
            </a:r>
            <a:endParaRPr lang="en-US" sz="1000" b="0" u="none" strike="noStrike">
              <a:solidFill>
                <a:srgbClr val="FFFFFF"/>
              </a:solidFill>
              <a:effectLst/>
              <a:uFillTx/>
              <a:latin typeface="Arial"/>
            </a:endParaRPr>
          </a:p>
        </p:txBody>
      </p:sp>
      <p:sp>
        <p:nvSpPr>
          <p:cNvPr id="627" name="TextBox 3"/>
          <p:cNvSpPr/>
          <p:nvPr/>
        </p:nvSpPr>
        <p:spPr>
          <a:xfrm>
            <a:off x="548640" y="850320"/>
            <a:ext cx="11063880" cy="1206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3000" b="1" u="none" strike="noStrike">
                <a:solidFill>
                  <a:srgbClr val="FFFFFF"/>
                </a:solidFill>
                <a:effectLst/>
                <a:uFillTx/>
                <a:latin typeface="DejaVu Sans"/>
              </a:rPr>
              <a:t>CẢM ƠN THẦY CÔ</a:t>
            </a:r>
            <a:endParaRPr lang="en-US" sz="3000" b="0" u="none" strike="noStrike">
              <a:solidFill>
                <a:srgbClr val="FFFFFF"/>
              </a:solidFill>
              <a:effectLst/>
              <a:uFillTx/>
              <a:latin typeface="Arial"/>
            </a:endParaRPr>
          </a:p>
          <a:p>
            <a:pPr defTabSz="457200">
              <a:lnSpc>
                <a:spcPct val="100000"/>
              </a:lnSpc>
              <a:spcAft>
                <a:spcPts val="700"/>
              </a:spcAft>
            </a:pPr>
            <a:r>
              <a:rPr lang="en-US" sz="3000" b="1" u="none" strike="noStrike">
                <a:solidFill>
                  <a:srgbClr val="FFFFFF"/>
                </a:solidFill>
                <a:effectLst/>
                <a:uFillTx/>
                <a:latin typeface="DejaVu Sans"/>
              </a:rPr>
              <a:t>VÀ CÁC BẠN</a:t>
            </a:r>
            <a:endParaRPr lang="en-US" sz="3000" b="0" u="none" strike="noStrike">
              <a:solidFill>
                <a:srgbClr val="FFFFFF"/>
              </a:solidFill>
              <a:effectLst/>
              <a:uFillTx/>
              <a:latin typeface="Arial"/>
            </a:endParaRPr>
          </a:p>
        </p:txBody>
      </p:sp>
      <p:sp>
        <p:nvSpPr>
          <p:cNvPr id="628" name="TextBox 4"/>
          <p:cNvSpPr/>
          <p:nvPr/>
        </p:nvSpPr>
        <p:spPr>
          <a:xfrm>
            <a:off x="567000" y="1938600"/>
            <a:ext cx="10972440" cy="5025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500" b="0" u="none" strike="noStrike">
                <a:solidFill>
                  <a:srgbClr val="B8CED3"/>
                </a:solidFill>
                <a:effectLst/>
                <a:uFillTx/>
                <a:latin typeface="DejaVu Sans"/>
              </a:rPr>
              <a:t>Mời trao đổi: bạn muốn làm rõ khái niệm hay mối quan hệ nào?</a:t>
            </a:r>
            <a:endParaRPr lang="en-US" sz="1500" b="0" u="none" strike="noStrike">
              <a:solidFill>
                <a:srgbClr val="FFFFFF"/>
              </a:solidFill>
              <a:effectLst/>
              <a:uFillTx/>
              <a:latin typeface="Arial"/>
            </a:endParaRPr>
          </a:p>
        </p:txBody>
      </p:sp>
      <p:sp>
        <p:nvSpPr>
          <p:cNvPr id="629" name="Rounded Rectangle 5"/>
          <p:cNvSpPr/>
          <p:nvPr/>
        </p:nvSpPr>
        <p:spPr>
          <a:xfrm>
            <a:off x="594360" y="2697480"/>
            <a:ext cx="5399280" cy="290736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30" name="Rectangle 6"/>
          <p:cNvSpPr/>
          <p:nvPr/>
        </p:nvSpPr>
        <p:spPr>
          <a:xfrm>
            <a:off x="594360" y="2697480"/>
            <a:ext cx="50040" cy="290736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31" name="TextBox 7"/>
          <p:cNvSpPr/>
          <p:nvPr/>
        </p:nvSpPr>
        <p:spPr>
          <a:xfrm>
            <a:off x="777240" y="2843640"/>
            <a:ext cx="503352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DFA54B"/>
                </a:solidFill>
                <a:effectLst/>
                <a:uFillTx/>
                <a:latin typeface="DejaVu Sans"/>
              </a:rPr>
              <a:t>01</a:t>
            </a:r>
            <a:endParaRPr lang="en-US" sz="1200" b="0" u="none" strike="noStrike">
              <a:solidFill>
                <a:srgbClr val="FFFFFF"/>
              </a:solidFill>
              <a:effectLst/>
              <a:uFillTx/>
              <a:latin typeface="Arial"/>
            </a:endParaRPr>
          </a:p>
        </p:txBody>
      </p:sp>
      <p:sp>
        <p:nvSpPr>
          <p:cNvPr id="632" name="TextBox 8"/>
          <p:cNvSpPr/>
          <p:nvPr/>
        </p:nvSpPr>
        <p:spPr>
          <a:xfrm>
            <a:off x="777240" y="3136320"/>
            <a:ext cx="503352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FFFFFF"/>
                </a:solidFill>
                <a:effectLst/>
                <a:uFillTx/>
                <a:latin typeface="DejaVu Sans"/>
              </a:rPr>
              <a:t>TÀI LIỆU NỀN</a:t>
            </a:r>
            <a:endParaRPr lang="en-US" sz="1700" b="0" u="none" strike="noStrike">
              <a:solidFill>
                <a:srgbClr val="FFFFFF"/>
              </a:solidFill>
              <a:effectLst/>
              <a:uFillTx/>
              <a:latin typeface="Arial"/>
            </a:endParaRPr>
          </a:p>
        </p:txBody>
      </p:sp>
      <p:sp>
        <p:nvSpPr>
          <p:cNvPr id="633" name="TextBox 9"/>
          <p:cNvSpPr/>
          <p:nvPr/>
        </p:nvSpPr>
        <p:spPr>
          <a:xfrm>
            <a:off x="777240" y="3758040"/>
            <a:ext cx="503352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E4EBED"/>
                </a:solidFill>
                <a:effectLst/>
                <a:uFillTx/>
                <a:latin typeface="DejaVu Sans"/>
              </a:rPr>
              <a:t>triet.docx do người học cung cấp.</a:t>
            </a:r>
            <a:endParaRPr lang="en-US" sz="1700" b="0" u="none" strike="noStrike">
              <a:solidFill>
                <a:srgbClr val="FFFFFF"/>
              </a:solidFill>
              <a:effectLst/>
              <a:uFillTx/>
              <a:latin typeface="Arial"/>
            </a:endParaRPr>
          </a:p>
          <a:p>
            <a:pPr defTabSz="457200">
              <a:lnSpc>
                <a:spcPct val="100000"/>
              </a:lnSpc>
              <a:spcAft>
                <a:spcPts val="300"/>
              </a:spcAft>
            </a:pPr>
            <a:r>
              <a:rPr lang="en-US" sz="1700" b="0" u="none" strike="noStrike">
                <a:solidFill>
                  <a:srgbClr val="E4EBED"/>
                </a:solidFill>
                <a:effectLst/>
                <a:uFillTx/>
                <a:latin typeface="DejaVu Sans"/>
              </a:rPr>
              <a:t>Không có thông tin tác giả, năm xuất bản hoặc trang trong tệp.</a:t>
            </a:r>
            <a:endParaRPr lang="en-US" sz="1700" b="0" u="none" strike="noStrike">
              <a:solidFill>
                <a:srgbClr val="FFFFFF"/>
              </a:solidFill>
              <a:effectLst/>
              <a:uFillTx/>
              <a:latin typeface="Arial"/>
            </a:endParaRPr>
          </a:p>
        </p:txBody>
      </p:sp>
      <p:sp>
        <p:nvSpPr>
          <p:cNvPr id="634" name="Rounded Rectangle 10"/>
          <p:cNvSpPr/>
          <p:nvPr/>
        </p:nvSpPr>
        <p:spPr>
          <a:xfrm>
            <a:off x="6213240" y="2697480"/>
            <a:ext cx="5399280" cy="290736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35" name="Rectangle 11"/>
          <p:cNvSpPr/>
          <p:nvPr/>
        </p:nvSpPr>
        <p:spPr>
          <a:xfrm>
            <a:off x="6213240" y="2697480"/>
            <a:ext cx="50040" cy="2907360"/>
          </a:xfrm>
          <a:prstGeom prst="rect">
            <a:avLst/>
          </a:prstGeom>
          <a:solidFill>
            <a:srgbClr val="DFA5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36" name="TextBox 12"/>
          <p:cNvSpPr/>
          <p:nvPr/>
        </p:nvSpPr>
        <p:spPr>
          <a:xfrm>
            <a:off x="6396120" y="2843640"/>
            <a:ext cx="5033520" cy="319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1" u="none" strike="noStrike">
                <a:solidFill>
                  <a:srgbClr val="DFA54B"/>
                </a:solidFill>
                <a:effectLst/>
                <a:uFillTx/>
                <a:latin typeface="DejaVu Sans"/>
              </a:rPr>
              <a:t>02</a:t>
            </a:r>
            <a:endParaRPr lang="en-US" sz="1200" b="0" u="none" strike="noStrike">
              <a:solidFill>
                <a:srgbClr val="FFFFFF"/>
              </a:solidFill>
              <a:effectLst/>
              <a:uFillTx/>
              <a:latin typeface="Arial"/>
            </a:endParaRPr>
          </a:p>
        </p:txBody>
      </p:sp>
      <p:sp>
        <p:nvSpPr>
          <p:cNvPr id="637" name="TextBox 13"/>
          <p:cNvSpPr/>
          <p:nvPr/>
        </p:nvSpPr>
        <p:spPr>
          <a:xfrm>
            <a:off x="6396120" y="3136320"/>
            <a:ext cx="5033520" cy="68544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700" b="1" u="none" strike="noStrike">
                <a:solidFill>
                  <a:srgbClr val="FFFFFF"/>
                </a:solidFill>
                <a:effectLst/>
                <a:uFillTx/>
                <a:latin typeface="DejaVu Sans"/>
              </a:rPr>
              <a:t>PHẦN NHÓM BỔ SUNG</a:t>
            </a:r>
            <a:endParaRPr lang="en-US" sz="1700" b="0" u="none" strike="noStrike">
              <a:solidFill>
                <a:srgbClr val="FFFFFF"/>
              </a:solidFill>
              <a:effectLst/>
              <a:uFillTx/>
              <a:latin typeface="Arial"/>
            </a:endParaRPr>
          </a:p>
        </p:txBody>
      </p:sp>
      <p:sp>
        <p:nvSpPr>
          <p:cNvPr id="638" name="TextBox 14"/>
          <p:cNvSpPr/>
          <p:nvPr/>
        </p:nvSpPr>
        <p:spPr>
          <a:xfrm>
            <a:off x="6396120" y="3758040"/>
            <a:ext cx="5033520" cy="177372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300"/>
              </a:spcAft>
            </a:pPr>
            <a:r>
              <a:rPr lang="en-US" sz="1700" b="0" u="none" strike="noStrike">
                <a:solidFill>
                  <a:srgbClr val="E4EBED"/>
                </a:solidFill>
                <a:effectLst/>
                <a:uFillTx/>
                <a:latin typeface="DejaVu Sans"/>
              </a:rPr>
              <a:t>Ví dụ chuyển đổi năng lượng; câu dẫn và diễn giải sư phạm.</a:t>
            </a:r>
            <a:endParaRPr lang="en-US" sz="1700" b="0" u="none" strike="noStrike">
              <a:solidFill>
                <a:srgbClr val="FFFFFF"/>
              </a:solidFill>
              <a:effectLst/>
              <a:uFillTx/>
              <a:latin typeface="Arial"/>
            </a:endParaRPr>
          </a:p>
          <a:p>
            <a:pPr defTabSz="457200">
              <a:lnSpc>
                <a:spcPct val="100000"/>
              </a:lnSpc>
              <a:spcAft>
                <a:spcPts val="300"/>
              </a:spcAft>
            </a:pPr>
            <a:r>
              <a:rPr lang="en-US" sz="1700" b="0" u="none" strike="noStrike">
                <a:solidFill>
                  <a:srgbClr val="E4EBED"/>
                </a:solidFill>
                <a:effectLst/>
                <a:uFillTx/>
                <a:latin typeface="DejaVu Sans"/>
              </a:rPr>
              <a:t>Sơ đồ vector tự dựng, có thể chỉnh sửa.</a:t>
            </a:r>
            <a:endParaRPr lang="en-US" sz="1700" b="0" u="none" strike="noStrike">
              <a:solidFill>
                <a:srgbClr val="FFFFFF"/>
              </a:solidFill>
              <a:effectLst/>
              <a:uFillTx/>
              <a:latin typeface="Arial"/>
            </a:endParaRPr>
          </a:p>
        </p:txBody>
      </p:sp>
      <p:sp>
        <p:nvSpPr>
          <p:cNvPr id="639" name="Rounded Rectangle 15"/>
          <p:cNvSpPr/>
          <p:nvPr/>
        </p:nvSpPr>
        <p:spPr>
          <a:xfrm>
            <a:off x="594360" y="5852160"/>
            <a:ext cx="11009160" cy="493560"/>
          </a:xfrm>
          <a:prstGeom prst="roundRect">
            <a:avLst>
              <a:gd name="adj" fmla="val 16667"/>
            </a:avLst>
          </a:prstGeom>
          <a:solidFill>
            <a:srgbClr val="203F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40" name="TextBox 16"/>
          <p:cNvSpPr/>
          <p:nvPr/>
        </p:nvSpPr>
        <p:spPr>
          <a:xfrm>
            <a:off x="749880" y="5943600"/>
            <a:ext cx="10698120" cy="3286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200" b="0" u="none" strike="noStrike">
                <a:solidFill>
                  <a:srgbClr val="FFFFFF"/>
                </a:solidFill>
                <a:effectLst/>
                <a:uFillTx/>
                <a:latin typeface="DejaVu Sans"/>
              </a:rPr>
              <a:t>Thông điệp cuối: hiểu đúng phạm trù để phân tích đúng quan hệ và lợi ích.</a:t>
            </a:r>
            <a:endParaRPr lang="en-US" sz="1200" b="0" u="none" strike="noStrike">
              <a:solidFill>
                <a:srgbClr val="FFFFFF"/>
              </a:solidFill>
              <a:effectLst/>
              <a:uFillTx/>
              <a:latin typeface="Arial"/>
            </a:endParaRPr>
          </a:p>
        </p:txBody>
      </p:sp>
      <p:sp>
        <p:nvSpPr>
          <p:cNvPr id="641" name="TextBox 17"/>
          <p:cNvSpPr/>
          <p:nvPr/>
        </p:nvSpPr>
        <p:spPr>
          <a:xfrm>
            <a:off x="594360" y="6510600"/>
            <a:ext cx="10058040" cy="20988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900" b="0" u="none" strike="noStrike">
                <a:solidFill>
                  <a:srgbClr val="B8CED3"/>
                </a:solidFill>
                <a:effectLst/>
                <a:uFillTx/>
                <a:latin typeface="DejaVu Sans"/>
              </a:rPr>
              <a:t>NGUỒN: triet.docx  •  Diễn đạt, sơ đồ: nhóm biên tập</a:t>
            </a:r>
            <a:endParaRPr lang="en-US" sz="900" b="0" u="none" strike="noStrike">
              <a:solidFill>
                <a:srgbClr val="FFFFFF"/>
              </a:solidFill>
              <a:effectLst/>
              <a:uFillTx/>
              <a:latin typeface="Arial"/>
            </a:endParaRPr>
          </a:p>
        </p:txBody>
      </p:sp>
      <p:sp>
        <p:nvSpPr>
          <p:cNvPr id="642" name="TextBox 18"/>
          <p:cNvSpPr/>
          <p:nvPr/>
        </p:nvSpPr>
        <p:spPr>
          <a:xfrm>
            <a:off x="10972800" y="6473880"/>
            <a:ext cx="685440" cy="273960"/>
          </a:xfrm>
          <a:prstGeom prst="rect">
            <a:avLst/>
          </a:prstGeom>
          <a:noFill/>
          <a:ln w="0">
            <a:noFill/>
          </a:ln>
        </p:spPr>
        <p:style>
          <a:lnRef idx="0"/>
          <a:fillRef idx="0"/>
          <a:effectRef idx="0"/>
          <a:fontRef idx="minor"/>
        </p:style>
        <p:txBody>
          <a:bodyPr lIns="18360" tIns="18360" rIns="18360" bIns="0" anchor="t">
            <a:spAutoFit/>
          </a:bodyPr>
          <a:p>
            <a:pPr defTabSz="457200">
              <a:lnSpc>
                <a:spcPct val="100000"/>
              </a:lnSpc>
              <a:spcAft>
                <a:spcPts val="700"/>
              </a:spcAft>
            </a:pPr>
            <a:r>
              <a:rPr lang="en-US" sz="1000" b="1" u="none" strike="noStrike">
                <a:solidFill>
                  <a:srgbClr val="DFA54B"/>
                </a:solidFill>
                <a:effectLst/>
                <a:uFillTx/>
                <a:latin typeface="DejaVu Sans"/>
              </a:rPr>
              <a:t>25 / 25</a:t>
            </a:r>
            <a:endParaRPr lang="en-US" sz="1000" b="0" u="none" strike="noStrike">
              <a:solidFill>
                <a:srgbClr val="FFFFFF"/>
              </a:solidFill>
              <a:effectLst/>
              <a:uFillTx/>
              <a:latin typeface="Arial"/>
            </a:endParaRPr>
          </a:p>
        </p:txBody>
      </p:sp>
    </p:spTree>
  </p:cSld>
  <p:transition spd="med">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LibreOfficeDev/26.8.0.0.alpha0$Linux_X86_64 LibreOffice_project/2c87e51eeaa2b413ff4ae097b2705eea1995d8e5</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Steve Canny</cp:lastModifiedBy>
  <dcterms:modified xsi:type="dcterms:W3CDTF">2013-01-27T09:15:58Z</dcterms:modified>
  <cp:revision>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